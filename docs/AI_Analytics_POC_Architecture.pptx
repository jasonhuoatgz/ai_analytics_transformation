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2751B57-2336-46DB-AD55-8F28BB694A5A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0BCFF"/>
                </a:solidFill>
              </a:defRPr>
            </a:pPr>
            <a:r>
              <a:rPr sz="975" b="1">
                <a:solidFill>
                  <a:srgbClr val="00BCFF"/>
                </a:solidFill>
              </a:rPr>
              <a:t>AI ANALYTICS TRANSFORMATION — POC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4C3693-95A3-475C-AD0F-96075CD2BBBF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7620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Customer Analytics Query Agent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AA8B60-A178-4E8E-BA5A-CDB80A3B49C8}"/>
              </a:ext>
            </a:extLst>
          </p:cNvPr>
          <p:cNvSpPr>
            <a:spLocks noGrp="1"/>
          </p:cNvSpPr>
          <p:nvPr/>
        </p:nvSpPr>
        <p:spPr>
          <a:xfrm>
            <a:off x="685800" y="270510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>
                <a:solidFill>
                  <a:srgbClr val="CAD5E2"/>
                </a:solidFill>
              </a:defRPr>
            </a:pPr>
            <a:r>
              <a:rPr sz="1800">
                <a:solidFill>
                  <a:srgbClr val="CAD5E2"/>
                </a:solidFill>
              </a:rPr>
              <a:t>Current POC Architecture &amp; Future Microsoft Stack Roadmap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D1312F-8FE2-43F3-8F18-41B3B5F7ACF1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62748E"/>
                </a:solidFill>
              </a:defRPr>
            </a:pPr>
            <a:r>
              <a:rPr sz="1050">
                <a:solidFill>
                  <a:srgbClr val="62748E"/>
                </a:solidFill>
              </a:rPr>
              <a:t>Jason Huo · June 2026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58892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8EB6BF9-50AE-432A-AA30-58A79D920F4A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084D1"/>
                </a:solidFill>
              </a:defRPr>
            </a:pPr>
            <a:r>
              <a:rPr sz="900" b="1">
                <a:solidFill>
                  <a:srgbClr val="0084D1"/>
                </a:solidFill>
              </a:rPr>
              <a:t>EXECUTIVE SUMMARY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2A74FA-4679-4FF1-A801-B4A9F81AD728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571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What we built and why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412CF7-09D3-41FB-A855-04808022E97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A proof-of-concept AI agent that answers natural-language business questions about life insurance customer analytics — converting plain English into SQL, executing against a local analytics database, and returning insights with charts and summaries.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82D08E0-79C1-4AFE-AC91-50BF9C36554D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2095500" cy="85725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C1C904-35F6-46EB-B8CA-2FFD5E3B75AC}"/>
              </a:ext>
            </a:extLst>
          </p:cNvPr>
          <p:cNvSpPr>
            <a:spLocks noGrp="1"/>
          </p:cNvSpPr>
          <p:nvPr/>
        </p:nvSpPr>
        <p:spPr>
          <a:xfrm>
            <a:off x="876300" y="27622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0084D1"/>
                </a:solidFill>
              </a:defRPr>
            </a:pPr>
            <a:r>
              <a:rPr sz="2250" b="1">
                <a:solidFill>
                  <a:srgbClr val="0084D1"/>
                </a:solidFill>
              </a:rPr>
              <a:t>100%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505EF1-C61A-4422-8D56-823E13B7E9D3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Local — zero cloud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0E0FDE-1D7F-4581-90EF-E8204887E5D0}"/>
              </a:ext>
            </a:extLst>
          </p:cNvPr>
          <p:cNvSpPr>
            <a:spLocks noGrp="1"/>
          </p:cNvSpPr>
          <p:nvPr/>
        </p:nvSpPr>
        <p:spPr>
          <a:xfrm>
            <a:off x="2971800" y="2667000"/>
            <a:ext cx="2095500" cy="85725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F6F5F0-6C7F-4C1D-9E48-E6E71CC00127}"/>
              </a:ext>
            </a:extLst>
          </p:cNvPr>
          <p:cNvSpPr>
            <a:spLocks noGrp="1"/>
          </p:cNvSpPr>
          <p:nvPr/>
        </p:nvSpPr>
        <p:spPr>
          <a:xfrm>
            <a:off x="3162300" y="27622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0084D1"/>
                </a:solidFill>
              </a:defRPr>
            </a:pPr>
            <a:r>
              <a:rPr sz="2250" b="1">
                <a:solidFill>
                  <a:srgbClr val="0084D1"/>
                </a:solidFill>
              </a:rPr>
              <a:t>57,600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A312CB-8632-43F4-97B6-63797C62B4A7}"/>
              </a:ext>
            </a:extLst>
          </p:cNvPr>
          <p:cNvSpPr>
            <a:spLocks noGrp="1"/>
          </p:cNvSpPr>
          <p:nvPr/>
        </p:nvSpPr>
        <p:spPr>
          <a:xfrm>
            <a:off x="3162300" y="31623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Aggregated rows, 10 markets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0614863-E323-40DE-9AA0-4A4E3D9E0790}"/>
              </a:ext>
            </a:extLst>
          </p:cNvPr>
          <p:cNvSpPr>
            <a:spLocks noGrp="1"/>
          </p:cNvSpPr>
          <p:nvPr/>
        </p:nvSpPr>
        <p:spPr>
          <a:xfrm>
            <a:off x="5257800" y="2667000"/>
            <a:ext cx="2095500" cy="85725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9B8C41-D8DD-4B55-91D5-AD0DDED8116D}"/>
              </a:ext>
            </a:extLst>
          </p:cNvPr>
          <p:cNvSpPr>
            <a:spLocks noGrp="1"/>
          </p:cNvSpPr>
          <p:nvPr/>
        </p:nvSpPr>
        <p:spPr>
          <a:xfrm>
            <a:off x="5448300" y="27622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0084D1"/>
                </a:solidFill>
              </a:defRPr>
            </a:pPr>
            <a:r>
              <a:rPr sz="2250" b="1">
                <a:solidFill>
                  <a:srgbClr val="0084D1"/>
                </a:solidFill>
              </a:rPr>
              <a:t>~15s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6E5129-6526-4A1F-94A8-46DD92E0576F}"/>
              </a:ext>
            </a:extLst>
          </p:cNvPr>
          <p:cNvSpPr>
            <a:spLocks noGrp="1"/>
          </p:cNvSpPr>
          <p:nvPr/>
        </p:nvSpPr>
        <p:spPr>
          <a:xfrm>
            <a:off x="5448300" y="31623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End-to-end response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AE236C-41E3-4FBF-86BD-8496536C5286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Goal: Enable business stakeholders to get instant answers to customer-related questions without waiting for an analyst.</a:t>
            </a:r>
          </a:p>
        </p:txBody>
      </p:sp>
    </p:spTree>
    <p:extLst>
      <p:ext uri="{BB962C8B-B14F-4D97-AF65-F5344CB8AC3E}">
        <p14:creationId xmlns:p14="http://schemas.microsoft.com/office/powerpoint/2010/main" val="47958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8E92C28-47BD-4295-8040-0F14E4AF1562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084D1"/>
                </a:solidFill>
              </a:defRPr>
            </a:pPr>
            <a:r>
              <a:rPr sz="900" b="1">
                <a:solidFill>
                  <a:srgbClr val="0084D1"/>
                </a:solidFill>
              </a:rPr>
              <a:t>CURRENT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E014E5-9BC7-418D-B6C1-255519FE3C48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666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POC End-to-End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E988B0-8B9E-44DB-848A-48D8933C81E4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Local-first, zero cloud — Python + Ollama + DuckDB + Streamlit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6529240-9BCE-42DC-AA3F-978190741E8E}"/>
              </a:ext>
            </a:extLst>
          </p:cNvPr>
          <p:cNvSpPr>
            <a:spLocks noGrp="1"/>
          </p:cNvSpPr>
          <p:nvPr/>
        </p:nvSpPr>
        <p:spPr>
          <a:xfrm>
            <a:off x="1190625" y="1877080"/>
            <a:ext cx="1657350" cy="1143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B4381F-E5D8-4217-B1EB-B813EFC17043}"/>
              </a:ext>
            </a:extLst>
          </p:cNvPr>
          <p:cNvSpPr>
            <a:spLocks noGrp="1"/>
          </p:cNvSpPr>
          <p:nvPr/>
        </p:nvSpPr>
        <p:spPr>
          <a:xfrm>
            <a:off x="1190625" y="2047875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D293D"/>
                </a:solidFill>
              </a:defRPr>
            </a:pPr>
            <a:r>
              <a:rPr sz="1200" b="1">
                <a:solidFill>
                  <a:srgbClr val="1D293D"/>
                </a:solidFill>
              </a:rPr>
              <a:t>User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EC67FA-C3C2-4248-BCC6-2421608C55BD}"/>
              </a:ext>
            </a:extLst>
          </p:cNvPr>
          <p:cNvSpPr>
            <a:spLocks noGrp="1"/>
          </p:cNvSpPr>
          <p:nvPr/>
        </p:nvSpPr>
        <p:spPr>
          <a:xfrm>
            <a:off x="1190625" y="2343150"/>
            <a:ext cx="1657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62748E"/>
                </a:solidFill>
              </a:defRPr>
            </a:pPr>
            <a:r>
              <a:rPr sz="825" dirty="0" err="1">
                <a:solidFill>
                  <a:srgbClr val="62748E"/>
                </a:solidFill>
              </a:rPr>
              <a:t>Streamlit</a:t>
            </a:r>
            <a:r>
              <a:rPr sz="825" dirty="0">
                <a:solidFill>
                  <a:srgbClr val="62748E"/>
                </a:solidFill>
              </a:rPr>
              <a:t> UI</a:t>
            </a:r>
          </a:p>
          <a:p>
            <a:pPr>
              <a:defRPr sz="825">
                <a:solidFill>
                  <a:srgbClr val="62748E"/>
                </a:solidFill>
              </a:defRPr>
            </a:pPr>
            <a:r>
              <a:rPr sz="825" dirty="0">
                <a:solidFill>
                  <a:srgbClr val="62748E"/>
                </a:solidFill>
              </a:rPr>
              <a:t>Plain English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10D483-9E93-46AC-99D4-B3DA1A56CB0B}"/>
              </a:ext>
            </a:extLst>
          </p:cNvPr>
          <p:cNvSpPr>
            <a:spLocks noGrp="1"/>
          </p:cNvSpPr>
          <p:nvPr/>
        </p:nvSpPr>
        <p:spPr>
          <a:xfrm>
            <a:off x="2886075" y="2286000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CAD5E2"/>
                </a:solidFill>
              </a:defRPr>
            </a:pPr>
            <a:r>
              <a:rPr sz="1650">
                <a:solidFill>
                  <a:srgbClr val="CAD5E2"/>
                </a:solidFill>
              </a:rPr>
              <a:t>→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9B2842-9539-4DD5-993E-6409EFD4C9CC}"/>
              </a:ext>
            </a:extLst>
          </p:cNvPr>
          <p:cNvSpPr>
            <a:spLocks noGrp="1"/>
          </p:cNvSpPr>
          <p:nvPr/>
        </p:nvSpPr>
        <p:spPr>
          <a:xfrm>
            <a:off x="3228975" y="1905000"/>
            <a:ext cx="1657350" cy="114300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9525">
            <a:solidFill>
              <a:srgbClr val="B8E6F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A3F872-4792-40AC-919F-B87DFC0E2DEF}"/>
              </a:ext>
            </a:extLst>
          </p:cNvPr>
          <p:cNvSpPr>
            <a:spLocks noGrp="1"/>
          </p:cNvSpPr>
          <p:nvPr/>
        </p:nvSpPr>
        <p:spPr>
          <a:xfrm>
            <a:off x="3228975" y="2047875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0598A"/>
                </a:solidFill>
              </a:defRPr>
            </a:pPr>
            <a:r>
              <a:rPr sz="1200" b="1">
                <a:solidFill>
                  <a:srgbClr val="00598A"/>
                </a:solidFill>
              </a:rPr>
              <a:t>Query Engine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60D11B-3650-46CF-9E56-453FA37B0D6B}"/>
              </a:ext>
            </a:extLst>
          </p:cNvPr>
          <p:cNvSpPr>
            <a:spLocks noGrp="1"/>
          </p:cNvSpPr>
          <p:nvPr/>
        </p:nvSpPr>
        <p:spPr>
          <a:xfrm>
            <a:off x="3228975" y="2343150"/>
            <a:ext cx="1657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NL to SQL</a:t>
            </a:r>
          </a:p>
          <a:p>
            <a:pPr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Ollama Llama 3.1 8B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9D891F-7B3B-422C-B014-29E6BF88C715}"/>
              </a:ext>
            </a:extLst>
          </p:cNvPr>
          <p:cNvSpPr>
            <a:spLocks noGrp="1"/>
          </p:cNvSpPr>
          <p:nvPr/>
        </p:nvSpPr>
        <p:spPr>
          <a:xfrm>
            <a:off x="4924425" y="2286000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CAD5E2"/>
                </a:solidFill>
              </a:defRPr>
            </a:pPr>
            <a:r>
              <a:rPr sz="1650">
                <a:solidFill>
                  <a:srgbClr val="CAD5E2"/>
                </a:solidFill>
              </a:rPr>
              <a:t>→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93C9C6E-8A74-4F83-AA72-7B34AC12E453}"/>
              </a:ext>
            </a:extLst>
          </p:cNvPr>
          <p:cNvSpPr>
            <a:spLocks noGrp="1"/>
          </p:cNvSpPr>
          <p:nvPr/>
        </p:nvSpPr>
        <p:spPr>
          <a:xfrm>
            <a:off x="5267325" y="1905000"/>
            <a:ext cx="1657350" cy="11430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9525">
            <a:solidFill>
              <a:srgbClr val="A4F4C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40E75A-78CD-46FC-A7E3-67C97D7AFD85}"/>
              </a:ext>
            </a:extLst>
          </p:cNvPr>
          <p:cNvSpPr>
            <a:spLocks noGrp="1"/>
          </p:cNvSpPr>
          <p:nvPr/>
        </p:nvSpPr>
        <p:spPr>
          <a:xfrm>
            <a:off x="5267325" y="2047875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06045"/>
                </a:solidFill>
              </a:defRPr>
            </a:pPr>
            <a:r>
              <a:rPr sz="1200" b="1">
                <a:solidFill>
                  <a:srgbClr val="006045"/>
                </a:solidFill>
              </a:rPr>
              <a:t>SQL Executor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AB66C5-2500-464C-B22D-E1909E36ED72}"/>
              </a:ext>
            </a:extLst>
          </p:cNvPr>
          <p:cNvSpPr>
            <a:spLocks noGrp="1"/>
          </p:cNvSpPr>
          <p:nvPr/>
        </p:nvSpPr>
        <p:spPr>
          <a:xfrm>
            <a:off x="5267325" y="2343150"/>
            <a:ext cx="1657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Validation</a:t>
            </a:r>
          </a:p>
          <a:p>
            <a:pPr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Read-only guard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A6F1CA-E25A-4BB6-BF75-288689BC06D9}"/>
              </a:ext>
            </a:extLst>
          </p:cNvPr>
          <p:cNvSpPr>
            <a:spLocks noGrp="1"/>
          </p:cNvSpPr>
          <p:nvPr/>
        </p:nvSpPr>
        <p:spPr>
          <a:xfrm>
            <a:off x="6962775" y="2286000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CAD5E2"/>
                </a:solidFill>
              </a:defRPr>
            </a:pPr>
            <a:r>
              <a:rPr sz="1650">
                <a:solidFill>
                  <a:srgbClr val="CAD5E2"/>
                </a:solidFill>
              </a:rPr>
              <a:t>→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1E62F4-4934-4472-BF02-C6A47BD24B24}"/>
              </a:ext>
            </a:extLst>
          </p:cNvPr>
          <p:cNvSpPr>
            <a:spLocks noGrp="1"/>
          </p:cNvSpPr>
          <p:nvPr/>
        </p:nvSpPr>
        <p:spPr>
          <a:xfrm>
            <a:off x="7305675" y="1905000"/>
            <a:ext cx="1657350" cy="114300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9525">
            <a:solidFill>
              <a:srgbClr val="FEE68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BD6A7B-684D-46AB-B4DD-EEA800AC6598}"/>
              </a:ext>
            </a:extLst>
          </p:cNvPr>
          <p:cNvSpPr>
            <a:spLocks noGrp="1"/>
          </p:cNvSpPr>
          <p:nvPr/>
        </p:nvSpPr>
        <p:spPr>
          <a:xfrm>
            <a:off x="7305675" y="2047875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973C00"/>
                </a:solidFill>
              </a:defRPr>
            </a:pPr>
            <a:r>
              <a:rPr sz="1200" b="1">
                <a:solidFill>
                  <a:srgbClr val="973C00"/>
                </a:solidFill>
              </a:rPr>
              <a:t>DuckDB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96E1D6-69B6-4F78-873E-96DECB7FD51B}"/>
              </a:ext>
            </a:extLst>
          </p:cNvPr>
          <p:cNvSpPr>
            <a:spLocks noGrp="1"/>
          </p:cNvSpPr>
          <p:nvPr/>
        </p:nvSpPr>
        <p:spPr>
          <a:xfrm>
            <a:off x="7305675" y="2343150"/>
            <a:ext cx="1657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Embedded OLAP</a:t>
            </a:r>
          </a:p>
          <a:p>
            <a:pPr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57,600 rows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772504-62C6-4B07-A7E8-FD9E3A9FBFB6}"/>
              </a:ext>
            </a:extLst>
          </p:cNvPr>
          <p:cNvSpPr>
            <a:spLocks noGrp="1"/>
          </p:cNvSpPr>
          <p:nvPr/>
        </p:nvSpPr>
        <p:spPr>
          <a:xfrm>
            <a:off x="9001125" y="2286000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CAD5E2"/>
                </a:solidFill>
              </a:defRPr>
            </a:pPr>
            <a:r>
              <a:rPr sz="1650">
                <a:solidFill>
                  <a:srgbClr val="CAD5E2"/>
                </a:solidFill>
              </a:rPr>
              <a:t>→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229FC6D-F147-4D6F-A190-A9FE9AF93FF8}"/>
              </a:ext>
            </a:extLst>
          </p:cNvPr>
          <p:cNvSpPr>
            <a:spLocks noGrp="1"/>
          </p:cNvSpPr>
          <p:nvPr/>
        </p:nvSpPr>
        <p:spPr>
          <a:xfrm>
            <a:off x="9344025" y="1905000"/>
            <a:ext cx="1657350" cy="1143000"/>
          </a:xfrm>
          <a:prstGeom prst="roundRect">
            <a:avLst>
              <a:gd name="adj" fmla="val 10000"/>
            </a:avLst>
          </a:prstGeom>
          <a:solidFill>
            <a:srgbClr val="FAF5FF"/>
          </a:solidFill>
          <a:ln w="9525">
            <a:solidFill>
              <a:srgbClr val="E9D4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DF1210-1344-48E0-B087-ECE6DFF25076}"/>
              </a:ext>
            </a:extLst>
          </p:cNvPr>
          <p:cNvSpPr>
            <a:spLocks noGrp="1"/>
          </p:cNvSpPr>
          <p:nvPr/>
        </p:nvSpPr>
        <p:spPr>
          <a:xfrm>
            <a:off x="9344025" y="2047875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6E11B0"/>
                </a:solidFill>
              </a:defRPr>
            </a:pPr>
            <a:r>
              <a:rPr sz="1200" b="1">
                <a:solidFill>
                  <a:srgbClr val="6E11B0"/>
                </a:solidFill>
              </a:rPr>
              <a:t>Response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9C37A6-A84B-460E-972A-BFC3BC453C5B}"/>
              </a:ext>
            </a:extLst>
          </p:cNvPr>
          <p:cNvSpPr>
            <a:spLocks noGrp="1"/>
          </p:cNvSpPr>
          <p:nvPr/>
        </p:nvSpPr>
        <p:spPr>
          <a:xfrm>
            <a:off x="9344025" y="2343150"/>
            <a:ext cx="1657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Formatted results</a:t>
            </a:r>
          </a:p>
          <a:p>
            <a:pPr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Charts + SQL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DC7D28A-B44A-4F89-BA45-F93EB7B36BD2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5238750" cy="85725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59141D-EE71-4407-86DB-D9B0FA088F6D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314158"/>
                </a:solidFill>
              </a:defRPr>
            </a:pPr>
            <a:r>
              <a:rPr sz="1050" b="1">
                <a:solidFill>
                  <a:srgbClr val="314158"/>
                </a:solidFill>
              </a:rPr>
              <a:t>Knowledge Base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BAFB6E-3E30-46DC-BB5F-F1C2336A7143}"/>
              </a:ext>
            </a:extLst>
          </p:cNvPr>
          <p:cNvSpPr>
            <a:spLocks noGrp="1"/>
          </p:cNvSpPr>
          <p:nvPr/>
        </p:nvSpPr>
        <p:spPr>
          <a:xfrm>
            <a:off x="838200" y="394335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Schema, column glossary, synonyms, KPI formulas, 20 few-shot examples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319B20E-B7AC-4A91-B957-AEAC9AE4A493}"/>
              </a:ext>
            </a:extLst>
          </p:cNvPr>
          <p:cNvSpPr>
            <a:spLocks noGrp="1"/>
          </p:cNvSpPr>
          <p:nvPr/>
        </p:nvSpPr>
        <p:spPr>
          <a:xfrm>
            <a:off x="6191250" y="3619500"/>
            <a:ext cx="5314950" cy="85725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6C76633-FC11-43CD-A5B4-489640B94186}"/>
              </a:ext>
            </a:extLst>
          </p:cNvPr>
          <p:cNvSpPr>
            <a:spLocks noGrp="1"/>
          </p:cNvSpPr>
          <p:nvPr/>
        </p:nvSpPr>
        <p:spPr>
          <a:xfrm>
            <a:off x="6343650" y="37147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314158"/>
                </a:solidFill>
              </a:defRPr>
            </a:pPr>
            <a:r>
              <a:rPr sz="1050" b="1">
                <a:solidFill>
                  <a:srgbClr val="314158"/>
                </a:solidFill>
              </a:rPr>
              <a:t>Tech Stack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313AB7F-3AAE-4F97-9776-7DD02762242C}"/>
              </a:ext>
            </a:extLst>
          </p:cNvPr>
          <p:cNvSpPr>
            <a:spLocks noGrp="1"/>
          </p:cNvSpPr>
          <p:nvPr/>
        </p:nvSpPr>
        <p:spPr>
          <a:xfrm>
            <a:off x="6343650" y="394335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Python 3.12, DuckDB, Ollama (Llama 3.1 8B), Streamlit, pandas, Altair</a:t>
            </a:r>
          </a:p>
        </p:txBody>
      </p:sp>
    </p:spTree>
    <p:extLst>
      <p:ext uri="{BB962C8B-B14F-4D97-AF65-F5344CB8AC3E}">
        <p14:creationId xmlns:p14="http://schemas.microsoft.com/office/powerpoint/2010/main" val="2072735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47243BD-B1F9-4917-8B8B-07F2DE285053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084D1"/>
                </a:solidFill>
              </a:defRPr>
            </a:pPr>
            <a:r>
              <a:rPr sz="900" b="1">
                <a:solidFill>
                  <a:srgbClr val="0084D1"/>
                </a:solidFill>
              </a:rPr>
              <a:t>POC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E811C2-B8A9-4523-BACF-A5AE31151869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666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How the agent answers a question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FD2496C-D922-465D-8DE9-38C8702EF2E2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381000" cy="381000"/>
          </a:xfrm>
          <a:prstGeom prst="ellipse">
            <a:avLst/>
          </a:prstGeom>
          <a:solidFill>
            <a:srgbClr val="00A6F4"/>
          </a:solidFill>
          <a:ln w="0">
            <a:noFill/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A4EB9B-0108-424A-BC60-B88D878CE711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38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5DECF3-E613-46E2-B43E-267A121DD578}"/>
              </a:ext>
            </a:extLst>
          </p:cNvPr>
          <p:cNvSpPr>
            <a:spLocks noGrp="1"/>
          </p:cNvSpPr>
          <p:nvPr/>
        </p:nvSpPr>
        <p:spPr>
          <a:xfrm>
            <a:off x="1219200" y="14097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F172B"/>
                </a:solidFill>
              </a:defRPr>
            </a:pPr>
            <a:r>
              <a:rPr sz="1200" b="1">
                <a:solidFill>
                  <a:srgbClr val="0F172B"/>
                </a:solidFill>
              </a:rPr>
              <a:t>User asks a question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F07414-D2A1-4B55-93C0-BB1CF4AC6EDC}"/>
              </a:ext>
            </a:extLst>
          </p:cNvPr>
          <p:cNvSpPr>
            <a:spLocks noGrp="1"/>
          </p:cNvSpPr>
          <p:nvPr/>
        </p:nvSpPr>
        <p:spPr>
          <a:xfrm>
            <a:off x="1219200" y="16573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e.g. Which wealth segment shows the biggest APE proportion in PHKL? typed into Streamlit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F93E92A-28D6-4732-A4B0-77DFC353BC0D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381000" cy="381000"/>
          </a:xfrm>
          <a:prstGeom prst="ellipse">
            <a:avLst/>
          </a:prstGeom>
          <a:solidFill>
            <a:srgbClr val="615FFF"/>
          </a:solidFill>
          <a:ln w="0">
            <a:noFill/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84CD4C-0472-4686-A456-55D08DC0F5E0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38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48A0E6-778B-4A5D-B350-B0471C519574}"/>
              </a:ext>
            </a:extLst>
          </p:cNvPr>
          <p:cNvSpPr>
            <a:spLocks noGrp="1"/>
          </p:cNvSpPr>
          <p:nvPr/>
        </p:nvSpPr>
        <p:spPr>
          <a:xfrm>
            <a:off x="1219200" y="21907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F172B"/>
                </a:solidFill>
              </a:defRPr>
            </a:pPr>
            <a:r>
              <a:rPr sz="1200" b="1">
                <a:solidFill>
                  <a:srgbClr val="0F172B"/>
                </a:solidFill>
              </a:rPr>
              <a:t>System prompt is assembled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D0B97D-819C-43A2-8291-07D5A36F74FC}"/>
              </a:ext>
            </a:extLst>
          </p:cNvPr>
          <p:cNvSpPr>
            <a:spLocks noGrp="1"/>
          </p:cNvSpPr>
          <p:nvPr/>
        </p:nvSpPr>
        <p:spPr>
          <a:xfrm>
            <a:off x="1219200" y="243840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Knowledge Base injects table schema, column glossary, synonym rules, KPI formulas, and 20 few-shot Q&amp;A examples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356FECD-5A46-4B30-BACE-5597A85F43B4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381000" cy="381000"/>
          </a:xfrm>
          <a:prstGeom prst="ellipse">
            <a:avLst/>
          </a:prstGeom>
          <a:solidFill>
            <a:srgbClr val="8E51FF"/>
          </a:solidFill>
          <a:ln w="0">
            <a:noFill/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DECB18-72F5-438D-BA53-E3559144BFBE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38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2EC483-65DD-45E5-8AB9-AF5636743125}"/>
              </a:ext>
            </a:extLst>
          </p:cNvPr>
          <p:cNvSpPr>
            <a:spLocks noGrp="1"/>
          </p:cNvSpPr>
          <p:nvPr/>
        </p:nvSpPr>
        <p:spPr>
          <a:xfrm>
            <a:off x="1219200" y="29718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F172B"/>
                </a:solidFill>
              </a:defRPr>
            </a:pPr>
            <a:r>
              <a:rPr sz="1200" b="1">
                <a:solidFill>
                  <a:srgbClr val="0F172B"/>
                </a:solidFill>
              </a:rPr>
              <a:t>Ollama generates SQL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E71058-071B-4B2B-BA9B-F2F7E0A5B42F}"/>
              </a:ext>
            </a:extLst>
          </p:cNvPr>
          <p:cNvSpPr>
            <a:spLocks noGrp="1"/>
          </p:cNvSpPr>
          <p:nvPr/>
        </p:nvSpPr>
        <p:spPr>
          <a:xfrm>
            <a:off x="1219200" y="32194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Llama 3.1 8B receives the full prompt, returns DuckDB SQL in a fenced code block at temperature 0.1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74AA59D-9A45-4DBE-8236-EFE75D380BAB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381000" cy="381000"/>
          </a:xfrm>
          <a:prstGeom prst="ellipse">
            <a:avLst/>
          </a:prstGeom>
          <a:solidFill>
            <a:srgbClr val="00BC7D"/>
          </a:solidFill>
          <a:ln w="0">
            <a:noFill/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AEC58B-4047-458F-BD0F-F1E1448C1DAB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38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985334-D618-4EE1-A777-C3FC0011760F}"/>
              </a:ext>
            </a:extLst>
          </p:cNvPr>
          <p:cNvSpPr>
            <a:spLocks noGrp="1"/>
          </p:cNvSpPr>
          <p:nvPr/>
        </p:nvSpPr>
        <p:spPr>
          <a:xfrm>
            <a:off x="1219200" y="37528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F172B"/>
                </a:solidFill>
              </a:defRPr>
            </a:pPr>
            <a:r>
              <a:rPr sz="1200" b="1">
                <a:solidFill>
                  <a:srgbClr val="0F172B"/>
                </a:solidFill>
              </a:rPr>
              <a:t>SQL is validated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B66392-690B-49F8-8A5D-EFC835FF8E4A}"/>
              </a:ext>
            </a:extLst>
          </p:cNvPr>
          <p:cNvSpPr>
            <a:spLocks noGrp="1"/>
          </p:cNvSpPr>
          <p:nvPr/>
        </p:nvSpPr>
        <p:spPr>
          <a:xfrm>
            <a:off x="1219200" y="400050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SQL Executor checks: SELECT-only, no write operations, correct table, column existence verified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1BB5F2C-296D-4B63-BE77-49659BF2B7B8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381000" cy="381000"/>
          </a:xfrm>
          <a:prstGeom prst="ellipse">
            <a:avLst/>
          </a:prstGeom>
          <a:solidFill>
            <a:srgbClr val="FE9A00"/>
          </a:solidFill>
          <a:ln w="0">
            <a:noFill/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312865-97C3-4EE9-B1AF-E5320F6F67B2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38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DC801B-BDF1-4495-B850-2499EBF27BC9}"/>
              </a:ext>
            </a:extLst>
          </p:cNvPr>
          <p:cNvSpPr>
            <a:spLocks noGrp="1"/>
          </p:cNvSpPr>
          <p:nvPr/>
        </p:nvSpPr>
        <p:spPr>
          <a:xfrm>
            <a:off x="1219200" y="45339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F172B"/>
                </a:solidFill>
              </a:defRPr>
            </a:pPr>
            <a:r>
              <a:rPr sz="1200" b="1">
                <a:solidFill>
                  <a:srgbClr val="0F172B"/>
                </a:solidFill>
              </a:rPr>
              <a:t>Query executes against DuckDB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D158B2-830C-43B1-BF96-3671DB367352}"/>
              </a:ext>
            </a:extLst>
          </p:cNvPr>
          <p:cNvSpPr>
            <a:spLocks noGrp="1"/>
          </p:cNvSpPr>
          <p:nvPr/>
        </p:nvSpPr>
        <p:spPr>
          <a:xfrm>
            <a:off x="1219200" y="47815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Results returned as pandas DataFrame in milliseconds from 57,600 rows of aggregated customer data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AFBE26E-CE94-46FC-991D-7470454CB7D7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381000" cy="381000"/>
          </a:xfrm>
          <a:prstGeom prst="ellipse">
            <a:avLst/>
          </a:prstGeom>
          <a:solidFill>
            <a:srgbClr val="FF2056"/>
          </a:solidFill>
          <a:ln w="0">
            <a:noFill/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CC414F-3392-493C-ADF6-A271598E6D68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38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B14008F-B1ED-479C-B8C6-4C1F2022C5F3}"/>
              </a:ext>
            </a:extLst>
          </p:cNvPr>
          <p:cNvSpPr>
            <a:spLocks noGrp="1"/>
          </p:cNvSpPr>
          <p:nvPr/>
        </p:nvSpPr>
        <p:spPr>
          <a:xfrm>
            <a:off x="1219200" y="5314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F172B"/>
                </a:solidFill>
              </a:defRPr>
            </a:pPr>
            <a:r>
              <a:rPr sz="1200" b="1">
                <a:solidFill>
                  <a:srgbClr val="0F172B"/>
                </a:solidFill>
              </a:rPr>
              <a:t>Results are formatted and displayed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695B1D-B488-4A84-A156-5F2047DE770E}"/>
              </a:ext>
            </a:extLst>
          </p:cNvPr>
          <p:cNvSpPr>
            <a:spLocks noGrp="1"/>
          </p:cNvSpPr>
          <p:nvPr/>
        </p:nvSpPr>
        <p:spPr>
          <a:xfrm>
            <a:off x="1219200" y="556260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Numbers with thousands commas, percentages at 1 decimal, auto bar/line chart, business-language insights</a:t>
            </a:r>
          </a:p>
        </p:txBody>
      </p:sp>
    </p:spTree>
    <p:extLst>
      <p:ext uri="{BB962C8B-B14F-4D97-AF65-F5344CB8AC3E}">
        <p14:creationId xmlns:p14="http://schemas.microsoft.com/office/powerpoint/2010/main" val="8976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1AE43CC-4B63-4720-8074-D70F7D877BBA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4F39F6"/>
                </a:solidFill>
              </a:defRPr>
            </a:pPr>
            <a:r>
              <a:rPr sz="900" b="1">
                <a:solidFill>
                  <a:srgbClr val="4F39F6"/>
                </a:solidFill>
              </a:rPr>
              <a:t>FUTURE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B3FAF0-533C-414F-B5D7-8F3102ED85AC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666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Target Microsoft Stack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729530-7C91-44E7-9826-C727E7894227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Enterprise-grade, integrated with Microsoft ecosystem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77FBB0-7457-42AF-8045-427E4478B99C}"/>
              </a:ext>
            </a:extLst>
          </p:cNvPr>
          <p:cNvSpPr>
            <a:spLocks noGrp="1"/>
          </p:cNvSpPr>
          <p:nvPr/>
        </p:nvSpPr>
        <p:spPr>
          <a:xfrm>
            <a:off x="1285875" y="1905000"/>
            <a:ext cx="2190750" cy="1143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9525">
            <a:solidFill>
              <a:srgbClr val="C6D2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518157-C17A-401D-9780-D3802C28D8D5}"/>
              </a:ext>
            </a:extLst>
          </p:cNvPr>
          <p:cNvSpPr>
            <a:spLocks noGrp="1"/>
          </p:cNvSpPr>
          <p:nvPr/>
        </p:nvSpPr>
        <p:spPr>
          <a:xfrm>
            <a:off x="1285875" y="204787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72AAC"/>
                </a:solidFill>
              </a:defRPr>
            </a:pPr>
            <a:r>
              <a:rPr sz="1200" b="1">
                <a:solidFill>
                  <a:srgbClr val="372AAC"/>
                </a:solidFill>
              </a:rPr>
              <a:t>Power Apps / Teams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3F9118-6A59-46AA-96F1-A4C154528FA3}"/>
              </a:ext>
            </a:extLst>
          </p:cNvPr>
          <p:cNvSpPr>
            <a:spLocks noGrp="1"/>
          </p:cNvSpPr>
          <p:nvPr/>
        </p:nvSpPr>
        <p:spPr>
          <a:xfrm>
            <a:off x="1285875" y="23431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Unified UI</a:t>
            </a:r>
          </a:p>
          <a:p>
            <a:pPr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SSO + RBAC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3B382E-0BE3-4006-B054-5B2188C520D6}"/>
              </a:ext>
            </a:extLst>
          </p:cNvPr>
          <p:cNvSpPr>
            <a:spLocks noGrp="1"/>
          </p:cNvSpPr>
          <p:nvPr/>
        </p:nvSpPr>
        <p:spPr>
          <a:xfrm>
            <a:off x="3514725" y="228600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CAD5E2"/>
                </a:solidFill>
              </a:defRPr>
            </a:pPr>
            <a:r>
              <a:rPr sz="1650">
                <a:solidFill>
                  <a:srgbClr val="CAD5E2"/>
                </a:solidFill>
              </a:rPr>
              <a:t>→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D9179CF-5174-4CC2-8442-3363586C1CB4}"/>
              </a:ext>
            </a:extLst>
          </p:cNvPr>
          <p:cNvSpPr>
            <a:spLocks noGrp="1"/>
          </p:cNvSpPr>
          <p:nvPr/>
        </p:nvSpPr>
        <p:spPr>
          <a:xfrm>
            <a:off x="3762375" y="1905000"/>
            <a:ext cx="2190750" cy="1143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9525">
            <a:solidFill>
              <a:srgbClr val="C6D2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88CE8A-EC05-4BD1-AD53-394991F47C14}"/>
              </a:ext>
            </a:extLst>
          </p:cNvPr>
          <p:cNvSpPr>
            <a:spLocks noGrp="1"/>
          </p:cNvSpPr>
          <p:nvPr/>
        </p:nvSpPr>
        <p:spPr>
          <a:xfrm>
            <a:off x="3762375" y="204787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72AAC"/>
                </a:solidFill>
              </a:defRPr>
            </a:pPr>
            <a:r>
              <a:rPr sz="1200" b="1">
                <a:solidFill>
                  <a:srgbClr val="372AAC"/>
                </a:solidFill>
              </a:rPr>
              <a:t>Azure OpenAI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7CD630-CF63-4A5D-9555-74EB11E440A3}"/>
              </a:ext>
            </a:extLst>
          </p:cNvPr>
          <p:cNvSpPr>
            <a:spLocks noGrp="1"/>
          </p:cNvSpPr>
          <p:nvPr/>
        </p:nvSpPr>
        <p:spPr>
          <a:xfrm>
            <a:off x="3762375" y="23431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GPT-4o / GPT-5</a:t>
            </a:r>
          </a:p>
          <a:p>
            <a:pPr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Enterprise SLA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174170-D9A4-4209-AA26-41743DABC61E}"/>
              </a:ext>
            </a:extLst>
          </p:cNvPr>
          <p:cNvSpPr>
            <a:spLocks noGrp="1"/>
          </p:cNvSpPr>
          <p:nvPr/>
        </p:nvSpPr>
        <p:spPr>
          <a:xfrm>
            <a:off x="5991225" y="228600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CAD5E2"/>
                </a:solidFill>
              </a:defRPr>
            </a:pPr>
            <a:r>
              <a:rPr sz="1650">
                <a:solidFill>
                  <a:srgbClr val="CAD5E2"/>
                </a:solidFill>
              </a:rPr>
              <a:t>→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9D8666F-D8D7-44DF-BECD-6B4F77286085}"/>
              </a:ext>
            </a:extLst>
          </p:cNvPr>
          <p:cNvSpPr>
            <a:spLocks noGrp="1"/>
          </p:cNvSpPr>
          <p:nvPr/>
        </p:nvSpPr>
        <p:spPr>
          <a:xfrm>
            <a:off x="6238875" y="1905000"/>
            <a:ext cx="2190750" cy="1143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9525">
            <a:solidFill>
              <a:srgbClr val="C6D2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5378D6-B85E-4281-9A42-8ABB1BB36AA4}"/>
              </a:ext>
            </a:extLst>
          </p:cNvPr>
          <p:cNvSpPr>
            <a:spLocks noGrp="1"/>
          </p:cNvSpPr>
          <p:nvPr/>
        </p:nvSpPr>
        <p:spPr>
          <a:xfrm>
            <a:off x="6238875" y="204787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72AAC"/>
                </a:solidFill>
              </a:defRPr>
            </a:pPr>
            <a:r>
              <a:rPr sz="1200" b="1">
                <a:solidFill>
                  <a:srgbClr val="372AAC"/>
                </a:solidFill>
              </a:rPr>
              <a:t>Azure SQL / Synapse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4F7B49-C932-4E58-8844-20B922565C82}"/>
              </a:ext>
            </a:extLst>
          </p:cNvPr>
          <p:cNvSpPr>
            <a:spLocks noGrp="1"/>
          </p:cNvSpPr>
          <p:nvPr/>
        </p:nvSpPr>
        <p:spPr>
          <a:xfrm>
            <a:off x="6238875" y="23431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Enterprise DW</a:t>
            </a:r>
          </a:p>
          <a:p>
            <a:pPr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Auto-scale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6488AD-93E4-404E-BF0D-DA9538E4AC84}"/>
              </a:ext>
            </a:extLst>
          </p:cNvPr>
          <p:cNvSpPr>
            <a:spLocks noGrp="1"/>
          </p:cNvSpPr>
          <p:nvPr/>
        </p:nvSpPr>
        <p:spPr>
          <a:xfrm>
            <a:off x="8467725" y="228600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CAD5E2"/>
                </a:solidFill>
              </a:defRPr>
            </a:pPr>
            <a:r>
              <a:rPr sz="1650">
                <a:solidFill>
                  <a:srgbClr val="CAD5E2"/>
                </a:solidFill>
              </a:rPr>
              <a:t>→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6D84460-EA0C-4ABB-8841-63FFB1D4F1C8}"/>
              </a:ext>
            </a:extLst>
          </p:cNvPr>
          <p:cNvSpPr>
            <a:spLocks noGrp="1"/>
          </p:cNvSpPr>
          <p:nvPr/>
        </p:nvSpPr>
        <p:spPr>
          <a:xfrm>
            <a:off x="8715375" y="1905000"/>
            <a:ext cx="2190750" cy="1143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9525">
            <a:solidFill>
              <a:srgbClr val="C6D2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92674D-F591-4345-8515-68BE534CDA73}"/>
              </a:ext>
            </a:extLst>
          </p:cNvPr>
          <p:cNvSpPr>
            <a:spLocks noGrp="1"/>
          </p:cNvSpPr>
          <p:nvPr/>
        </p:nvSpPr>
        <p:spPr>
          <a:xfrm>
            <a:off x="8715375" y="204787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72AAC"/>
                </a:solidFill>
              </a:defRPr>
            </a:pPr>
            <a:r>
              <a:rPr sz="1200" b="1">
                <a:solidFill>
                  <a:srgbClr val="372AAC"/>
                </a:solidFill>
              </a:rPr>
              <a:t>Power BI / Fabric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61F1A2-037A-4BFD-8228-30D3F32922EA}"/>
              </a:ext>
            </a:extLst>
          </p:cNvPr>
          <p:cNvSpPr>
            <a:spLocks noGrp="1"/>
          </p:cNvSpPr>
          <p:nvPr/>
        </p:nvSpPr>
        <p:spPr>
          <a:xfrm>
            <a:off x="8715375" y="23431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Dashboards</a:t>
            </a:r>
          </a:p>
          <a:p>
            <a:pPr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Copilot + Semantic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28D3F13-7DAA-42C2-B5FC-DC2381342677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5238750" cy="85725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9525">
            <a:solidFill>
              <a:srgbClr val="C6D2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0C87D6-4041-4757-BB00-33D8A6120EC5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372AAC"/>
                </a:solidFill>
              </a:defRPr>
            </a:pPr>
            <a:r>
              <a:rPr sz="1050" b="1">
                <a:solidFill>
                  <a:srgbClr val="372AAC"/>
                </a:solidFill>
              </a:rPr>
              <a:t>Enterprise Governance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00A8D6-F5E7-4D79-A075-7ACC756C2494}"/>
              </a:ext>
            </a:extLst>
          </p:cNvPr>
          <p:cNvSpPr>
            <a:spLocks noGrp="1"/>
          </p:cNvSpPr>
          <p:nvPr/>
        </p:nvSpPr>
        <p:spPr>
          <a:xfrm>
            <a:off x="838200" y="394335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Azure AD / Entra ID, Managed Identity, Private Endpoints, Purview, Sentinel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48CEF40-F6F5-4E11-BAD3-FB67C8E4FCBD}"/>
              </a:ext>
            </a:extLst>
          </p:cNvPr>
          <p:cNvSpPr>
            <a:spLocks noGrp="1"/>
          </p:cNvSpPr>
          <p:nvPr/>
        </p:nvSpPr>
        <p:spPr>
          <a:xfrm>
            <a:off x="6191250" y="3619500"/>
            <a:ext cx="5314950" cy="85725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9525">
            <a:solidFill>
              <a:srgbClr val="C6D2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A4FD1D-0B84-4748-8AC3-FD63CBD1C9EA}"/>
              </a:ext>
            </a:extLst>
          </p:cNvPr>
          <p:cNvSpPr>
            <a:spLocks noGrp="1"/>
          </p:cNvSpPr>
          <p:nvPr/>
        </p:nvSpPr>
        <p:spPr>
          <a:xfrm>
            <a:off x="6343650" y="37147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372AAC"/>
                </a:solidFill>
              </a:defRPr>
            </a:pPr>
            <a:r>
              <a:rPr sz="1050" b="1">
                <a:solidFill>
                  <a:srgbClr val="372AAC"/>
                </a:solidFill>
              </a:rPr>
              <a:t>Integration Points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615383-4CD2-461A-A97F-DBE98467D7DE}"/>
              </a:ext>
            </a:extLst>
          </p:cNvPr>
          <p:cNvSpPr>
            <a:spLocks noGrp="1"/>
          </p:cNvSpPr>
          <p:nvPr/>
        </p:nvSpPr>
        <p:spPr>
          <a:xfrm>
            <a:off x="6343650" y="394335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Logic Apps, Azure Functions, Event Hub, SharePoint/OneDrive, Power Automate</a:t>
            </a:r>
          </a:p>
        </p:txBody>
      </p:sp>
    </p:spTree>
    <p:extLst>
      <p:ext uri="{BB962C8B-B14F-4D97-AF65-F5344CB8AC3E}">
        <p14:creationId xmlns:p14="http://schemas.microsoft.com/office/powerpoint/2010/main" val="896350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62468180-8A16-4C7B-AAF2-435B243577FB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084D1"/>
                </a:solidFill>
              </a:defRPr>
            </a:pPr>
            <a:r>
              <a:rPr sz="900" b="1">
                <a:solidFill>
                  <a:srgbClr val="0084D1"/>
                </a:solidFill>
              </a:rPr>
              <a:t>COMPARISON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E26008-755A-4278-A322-5A5A24883279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7620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POC vs. Microsoft Stack: Pros &amp; Cons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89DFBB9-D5ED-4E57-B93C-0014D96D42EE}"/>
              </a:ext>
            </a:extLst>
          </p:cNvPr>
          <p:cNvSpPr>
            <a:spLocks noGrp="1"/>
          </p:cNvSpPr>
          <p:nvPr/>
        </p:nvSpPr>
        <p:spPr>
          <a:xfrm>
            <a:off x="685800" y="1314450"/>
            <a:ext cx="10401300" cy="419100"/>
          </a:xfrm>
          <a:prstGeom prst="roundRect">
            <a:avLst>
              <a:gd name="adj" fmla="val 27273"/>
            </a:avLst>
          </a:prstGeom>
          <a:solidFill>
            <a:srgbClr val="0F172B"/>
          </a:solidFill>
          <a:ln w="0">
            <a:solidFill>
              <a:srgbClr val="0F17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625B43-8080-4D8E-8324-DDE693F0DFA8}"/>
              </a:ext>
            </a:extLst>
          </p:cNvPr>
          <p:cNvSpPr>
            <a:spLocks noGrp="1"/>
          </p:cNvSpPr>
          <p:nvPr/>
        </p:nvSpPr>
        <p:spPr>
          <a:xfrm>
            <a:off x="800100" y="1428750"/>
            <a:ext cx="1485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Dimension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54F207-E8DF-49A2-B7DE-68FE1C1BB820}"/>
              </a:ext>
            </a:extLst>
          </p:cNvPr>
          <p:cNvSpPr>
            <a:spLocks noGrp="1"/>
          </p:cNvSpPr>
          <p:nvPr/>
        </p:nvSpPr>
        <p:spPr>
          <a:xfrm>
            <a:off x="2514600" y="1428750"/>
            <a:ext cx="411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Current POC (Local)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41079A-AA7B-49D4-BAE8-D9445FEEC654}"/>
              </a:ext>
            </a:extLst>
          </p:cNvPr>
          <p:cNvSpPr>
            <a:spLocks noGrp="1"/>
          </p:cNvSpPr>
          <p:nvPr/>
        </p:nvSpPr>
        <p:spPr>
          <a:xfrm>
            <a:off x="6858000" y="1428750"/>
            <a:ext cx="411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Future (Microsoft Azure)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69743F8-12DF-447C-8268-6809A5EB2F6B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104013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D5A3EA-26BB-4993-9E90-31637E022DE2}"/>
              </a:ext>
            </a:extLst>
          </p:cNvPr>
          <p:cNvSpPr>
            <a:spLocks noGrp="1"/>
          </p:cNvSpPr>
          <p:nvPr/>
        </p:nvSpPr>
        <p:spPr>
          <a:xfrm>
            <a:off x="800100" y="1847850"/>
            <a:ext cx="1485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314158"/>
                </a:solidFill>
              </a:defRPr>
            </a:pPr>
            <a:r>
              <a:rPr sz="825" b="1">
                <a:solidFill>
                  <a:srgbClr val="314158"/>
                </a:solidFill>
              </a:rPr>
              <a:t>Cost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3E2F72-B61E-45A2-BC19-14D6BCF0DC15}"/>
              </a:ext>
            </a:extLst>
          </p:cNvPr>
          <p:cNvSpPr>
            <a:spLocks noGrp="1"/>
          </p:cNvSpPr>
          <p:nvPr/>
        </p:nvSpPr>
        <p:spPr>
          <a:xfrm>
            <a:off x="2514600" y="1847850"/>
            <a:ext cx="411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45556C"/>
                </a:solidFill>
              </a:defRPr>
            </a:pPr>
            <a:r>
              <a:rPr sz="825" b="0">
                <a:solidFill>
                  <a:srgbClr val="45556C"/>
                </a:solidFill>
              </a:rPr>
              <a:t>Free - all local, no cloud costs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B7253B-F0A4-40DF-A28C-6AD5076F0881}"/>
              </a:ext>
            </a:extLst>
          </p:cNvPr>
          <p:cNvSpPr>
            <a:spLocks noGrp="1"/>
          </p:cNvSpPr>
          <p:nvPr/>
        </p:nvSpPr>
        <p:spPr>
          <a:xfrm>
            <a:off x="6858000" y="1847850"/>
            <a:ext cx="411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45556C"/>
                </a:solidFill>
              </a:defRPr>
            </a:pPr>
            <a:r>
              <a:rPr sz="825" b="0">
                <a:solidFill>
                  <a:srgbClr val="45556C"/>
                </a:solidFill>
              </a:rPr>
              <a:t>Azure OpenAI + SQL + compute - enterprise pricing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C1E75DD-9438-4870-A2A3-B764F6C46D8A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10401300" cy="419100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4763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5C7C84-234F-4285-A1CB-89E7196184BE}"/>
              </a:ext>
            </a:extLst>
          </p:cNvPr>
          <p:cNvSpPr>
            <a:spLocks noGrp="1"/>
          </p:cNvSpPr>
          <p:nvPr/>
        </p:nvSpPr>
        <p:spPr>
          <a:xfrm>
            <a:off x="800100" y="2266950"/>
            <a:ext cx="1485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314158"/>
                </a:solidFill>
              </a:defRPr>
            </a:pPr>
            <a:r>
              <a:rPr sz="825" b="1">
                <a:solidFill>
                  <a:srgbClr val="314158"/>
                </a:solidFill>
              </a:rPr>
              <a:t>Setup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88C7AC-138C-4552-91B5-3E5B9F39DA1F}"/>
              </a:ext>
            </a:extLst>
          </p:cNvPr>
          <p:cNvSpPr>
            <a:spLocks noGrp="1"/>
          </p:cNvSpPr>
          <p:nvPr/>
        </p:nvSpPr>
        <p:spPr>
          <a:xfrm>
            <a:off x="2514600" y="2266950"/>
            <a:ext cx="411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45556C"/>
                </a:solidFill>
              </a:defRPr>
            </a:pPr>
            <a:r>
              <a:rPr sz="825" b="0">
                <a:solidFill>
                  <a:srgbClr val="45556C"/>
                </a:solidFill>
              </a:rPr>
              <a:t>~2 hours on a laptop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34C4C7-FE2B-4912-ACD0-5505152C53E2}"/>
              </a:ext>
            </a:extLst>
          </p:cNvPr>
          <p:cNvSpPr>
            <a:spLocks noGrp="1"/>
          </p:cNvSpPr>
          <p:nvPr/>
        </p:nvSpPr>
        <p:spPr>
          <a:xfrm>
            <a:off x="6858000" y="2266950"/>
            <a:ext cx="411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45556C"/>
                </a:solidFill>
              </a:defRPr>
            </a:pPr>
            <a:r>
              <a:rPr sz="825" b="0">
                <a:solidFill>
                  <a:srgbClr val="45556C"/>
                </a:solidFill>
              </a:rPr>
              <a:t>Weeks - provisioning, security, governance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2C52F72-3C75-4E75-BE5D-3295C358E894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104013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E999F7-4E7B-4ECE-961D-56BF086F835D}"/>
              </a:ext>
            </a:extLst>
          </p:cNvPr>
          <p:cNvSpPr>
            <a:spLocks noGrp="1"/>
          </p:cNvSpPr>
          <p:nvPr/>
        </p:nvSpPr>
        <p:spPr>
          <a:xfrm>
            <a:off x="800100" y="2686050"/>
            <a:ext cx="1485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314158"/>
                </a:solidFill>
              </a:defRPr>
            </a:pPr>
            <a:r>
              <a:rPr sz="825" b="1">
                <a:solidFill>
                  <a:srgbClr val="314158"/>
                </a:solidFill>
              </a:rPr>
              <a:t>LLM Quality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01FA89-35C4-41EE-86CF-F58A9D5A78E8}"/>
              </a:ext>
            </a:extLst>
          </p:cNvPr>
          <p:cNvSpPr>
            <a:spLocks noGrp="1"/>
          </p:cNvSpPr>
          <p:nvPr/>
        </p:nvSpPr>
        <p:spPr>
          <a:xfrm>
            <a:off x="2514600" y="2686050"/>
            <a:ext cx="411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45556C"/>
                </a:solidFill>
              </a:defRPr>
            </a:pPr>
            <a:r>
              <a:rPr sz="825" b="0">
                <a:solidFill>
                  <a:srgbClr val="45556C"/>
                </a:solidFill>
              </a:rPr>
              <a:t>Llama 3.1 8B - good for single-table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A37FEB-A530-4E23-ACC7-4E170911FF5D}"/>
              </a:ext>
            </a:extLst>
          </p:cNvPr>
          <p:cNvSpPr>
            <a:spLocks noGrp="1"/>
          </p:cNvSpPr>
          <p:nvPr/>
        </p:nvSpPr>
        <p:spPr>
          <a:xfrm>
            <a:off x="6858000" y="2686050"/>
            <a:ext cx="411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45556C"/>
                </a:solidFill>
              </a:defRPr>
            </a:pPr>
            <a:r>
              <a:rPr sz="825" b="0">
                <a:solidFill>
                  <a:srgbClr val="45556C"/>
                </a:solidFill>
              </a:rPr>
              <a:t>GPT-4o/5 - state-of-the-art reasoning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B8E086A-AD8D-4FB8-B221-D72FF95038DF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10401300" cy="419100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4763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826D01-28A9-4547-BB8E-8B2AFFA1A2BA}"/>
              </a:ext>
            </a:extLst>
          </p:cNvPr>
          <p:cNvSpPr>
            <a:spLocks noGrp="1"/>
          </p:cNvSpPr>
          <p:nvPr/>
        </p:nvSpPr>
        <p:spPr>
          <a:xfrm>
            <a:off x="800100" y="3105150"/>
            <a:ext cx="1485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314158"/>
                </a:solidFill>
              </a:defRPr>
            </a:pPr>
            <a:r>
              <a:rPr sz="825" b="1">
                <a:solidFill>
                  <a:srgbClr val="314158"/>
                </a:solidFill>
              </a:rPr>
              <a:t>Data Scale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9BCC04-3A37-4922-B7B4-0D90AEA457A2}"/>
              </a:ext>
            </a:extLst>
          </p:cNvPr>
          <p:cNvSpPr>
            <a:spLocks noGrp="1"/>
          </p:cNvSpPr>
          <p:nvPr/>
        </p:nvSpPr>
        <p:spPr>
          <a:xfrm>
            <a:off x="2514600" y="3105150"/>
            <a:ext cx="411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45556C"/>
                </a:solidFill>
              </a:defRPr>
            </a:pPr>
            <a:r>
              <a:rPr sz="825" b="0">
                <a:solidFill>
                  <a:srgbClr val="45556C"/>
                </a:solidFill>
              </a:rPr>
              <a:t>Up to ~1M rows on laptop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BB2C2F-75D9-4D29-A8B5-F3A1A1C1058D}"/>
              </a:ext>
            </a:extLst>
          </p:cNvPr>
          <p:cNvSpPr>
            <a:spLocks noGrp="1"/>
          </p:cNvSpPr>
          <p:nvPr/>
        </p:nvSpPr>
        <p:spPr>
          <a:xfrm>
            <a:off x="6858000" y="3105150"/>
            <a:ext cx="411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45556C"/>
                </a:solidFill>
              </a:defRPr>
            </a:pPr>
            <a:r>
              <a:rPr sz="825" b="0">
                <a:solidFill>
                  <a:srgbClr val="45556C"/>
                </a:solidFill>
              </a:rPr>
              <a:t>Billions of rows - auto-scale, columnstore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2C53EA7-D281-4D6E-A2D8-7C0604219B0F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104013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F06FCDA-0A45-4DA3-A658-AFCF86BEF54E}"/>
              </a:ext>
            </a:extLst>
          </p:cNvPr>
          <p:cNvSpPr>
            <a:spLocks noGrp="1"/>
          </p:cNvSpPr>
          <p:nvPr/>
        </p:nvSpPr>
        <p:spPr>
          <a:xfrm>
            <a:off x="800100" y="3524250"/>
            <a:ext cx="1485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314158"/>
                </a:solidFill>
              </a:defRPr>
            </a:pPr>
            <a:r>
              <a:rPr sz="825" b="1">
                <a:solidFill>
                  <a:srgbClr val="314158"/>
                </a:solidFill>
              </a:rPr>
              <a:t>Security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251DF26-616F-4A21-8F2A-3770510F32C4}"/>
              </a:ext>
            </a:extLst>
          </p:cNvPr>
          <p:cNvSpPr>
            <a:spLocks noGrp="1"/>
          </p:cNvSpPr>
          <p:nvPr/>
        </p:nvSpPr>
        <p:spPr>
          <a:xfrm>
            <a:off x="2514600" y="3524250"/>
            <a:ext cx="411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45556C"/>
                </a:solidFill>
              </a:defRPr>
            </a:pPr>
            <a:r>
              <a:rPr sz="825" b="0">
                <a:solidFill>
                  <a:srgbClr val="45556C"/>
                </a:solidFill>
              </a:rPr>
              <a:t>Local-only - no network exposure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5FA40D9-35EF-45FD-8DCE-54A9D16DB783}"/>
              </a:ext>
            </a:extLst>
          </p:cNvPr>
          <p:cNvSpPr>
            <a:spLocks noGrp="1"/>
          </p:cNvSpPr>
          <p:nvPr/>
        </p:nvSpPr>
        <p:spPr>
          <a:xfrm>
            <a:off x="6858000" y="3524250"/>
            <a:ext cx="411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45556C"/>
                </a:solidFill>
              </a:defRPr>
            </a:pPr>
            <a:r>
              <a:rPr sz="825" b="0">
                <a:solidFill>
                  <a:srgbClr val="45556C"/>
                </a:solidFill>
              </a:rPr>
              <a:t>Azure AD, RBAC, Private Link, Purview DLP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8D910B8-AA5B-4031-BB0E-AA13E22EA0EE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10401300" cy="419100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4763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83D384-FF3A-4BD4-B759-76211B8DFCC2}"/>
              </a:ext>
            </a:extLst>
          </p:cNvPr>
          <p:cNvSpPr>
            <a:spLocks noGrp="1"/>
          </p:cNvSpPr>
          <p:nvPr/>
        </p:nvSpPr>
        <p:spPr>
          <a:xfrm>
            <a:off x="800100" y="3943350"/>
            <a:ext cx="1485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314158"/>
                </a:solidFill>
              </a:defRPr>
            </a:pPr>
            <a:r>
              <a:rPr sz="825" b="1">
                <a:solidFill>
                  <a:srgbClr val="314158"/>
                </a:solidFill>
              </a:rPr>
              <a:t>Iteration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4D9760E-6BC6-456E-994F-6313F83F2F1D}"/>
              </a:ext>
            </a:extLst>
          </p:cNvPr>
          <p:cNvSpPr>
            <a:spLocks noGrp="1"/>
          </p:cNvSpPr>
          <p:nvPr/>
        </p:nvSpPr>
        <p:spPr>
          <a:xfrm>
            <a:off x="2514600" y="3943350"/>
            <a:ext cx="411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45556C"/>
                </a:solidFill>
              </a:defRPr>
            </a:pPr>
            <a:r>
              <a:rPr sz="825" b="0">
                <a:solidFill>
                  <a:srgbClr val="45556C"/>
                </a:solidFill>
              </a:rPr>
              <a:t>Instant - edit Python, restart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2C52481-18CB-4509-B044-306C0212BF1B}"/>
              </a:ext>
            </a:extLst>
          </p:cNvPr>
          <p:cNvSpPr>
            <a:spLocks noGrp="1"/>
          </p:cNvSpPr>
          <p:nvPr/>
        </p:nvSpPr>
        <p:spPr>
          <a:xfrm>
            <a:off x="6858000" y="3943350"/>
            <a:ext cx="411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45556C"/>
                </a:solidFill>
              </a:defRPr>
            </a:pPr>
            <a:r>
              <a:rPr sz="825" b="0">
                <a:solidFill>
                  <a:srgbClr val="45556C"/>
                </a:solidFill>
              </a:rPr>
              <a:t>Slower - CI/CD, staging environments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DBE32BA-3D9E-475A-849C-2986648D8054}"/>
              </a:ext>
            </a:extLst>
          </p:cNvPr>
          <p:cNvSpPr>
            <a:spLocks noGrp="1"/>
          </p:cNvSpPr>
          <p:nvPr/>
        </p:nvSpPr>
        <p:spPr>
          <a:xfrm>
            <a:off x="685800" y="4248150"/>
            <a:ext cx="104013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1EA0D1A-3281-40D1-8FE3-E003454B2FE9}"/>
              </a:ext>
            </a:extLst>
          </p:cNvPr>
          <p:cNvSpPr>
            <a:spLocks noGrp="1"/>
          </p:cNvSpPr>
          <p:nvPr/>
        </p:nvSpPr>
        <p:spPr>
          <a:xfrm>
            <a:off x="800100" y="4362450"/>
            <a:ext cx="1485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314158"/>
                </a:solidFill>
              </a:defRPr>
            </a:pPr>
            <a:r>
              <a:rPr sz="825" b="1">
                <a:solidFill>
                  <a:srgbClr val="314158"/>
                </a:solidFill>
              </a:rPr>
              <a:t>Collaboration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F47A336-2EBD-43BA-9F0A-D6E8F2B6565B}"/>
              </a:ext>
            </a:extLst>
          </p:cNvPr>
          <p:cNvSpPr>
            <a:spLocks noGrp="1"/>
          </p:cNvSpPr>
          <p:nvPr/>
        </p:nvSpPr>
        <p:spPr>
          <a:xfrm>
            <a:off x="2514600" y="4362450"/>
            <a:ext cx="411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45556C"/>
                </a:solidFill>
              </a:defRPr>
            </a:pPr>
            <a:r>
              <a:rPr sz="825" b="0">
                <a:solidFill>
                  <a:srgbClr val="45556C"/>
                </a:solidFill>
              </a:rPr>
              <a:t>Single-user Streamlit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E2DAA6D-AED5-4874-9C93-EA84EE514A24}"/>
              </a:ext>
            </a:extLst>
          </p:cNvPr>
          <p:cNvSpPr>
            <a:spLocks noGrp="1"/>
          </p:cNvSpPr>
          <p:nvPr/>
        </p:nvSpPr>
        <p:spPr>
          <a:xfrm>
            <a:off x="6858000" y="4362450"/>
            <a:ext cx="411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45556C"/>
                </a:solidFill>
              </a:defRPr>
            </a:pPr>
            <a:r>
              <a:rPr sz="825" b="0">
                <a:solidFill>
                  <a:srgbClr val="45556C"/>
                </a:solidFill>
              </a:rPr>
              <a:t>Multi-user Teams/Power Apps with SSO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DE87BF3-6D29-4A44-846F-117183B74AED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401300" cy="419100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4763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A87D40A-3407-43B5-B4B8-C5F89E426D9B}"/>
              </a:ext>
            </a:extLst>
          </p:cNvPr>
          <p:cNvSpPr>
            <a:spLocks noGrp="1"/>
          </p:cNvSpPr>
          <p:nvPr/>
        </p:nvSpPr>
        <p:spPr>
          <a:xfrm>
            <a:off x="800100" y="4781550"/>
            <a:ext cx="1485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314158"/>
                </a:solidFill>
              </a:defRPr>
            </a:pPr>
            <a:r>
              <a:rPr sz="825" b="1">
                <a:solidFill>
                  <a:srgbClr val="314158"/>
                </a:solidFill>
              </a:rPr>
              <a:t>Visualization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FB6C850-A7C6-449D-99F1-938A358C339E}"/>
              </a:ext>
            </a:extLst>
          </p:cNvPr>
          <p:cNvSpPr>
            <a:spLocks noGrp="1"/>
          </p:cNvSpPr>
          <p:nvPr/>
        </p:nvSpPr>
        <p:spPr>
          <a:xfrm>
            <a:off x="2514600" y="4781550"/>
            <a:ext cx="411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45556C"/>
                </a:solidFill>
              </a:defRPr>
            </a:pPr>
            <a:r>
              <a:rPr sz="825" b="0">
                <a:solidFill>
                  <a:srgbClr val="45556C"/>
                </a:solidFill>
              </a:rPr>
              <a:t>Altair (basic bar/line)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F554EA2-B2B2-485E-8352-A862670CC636}"/>
              </a:ext>
            </a:extLst>
          </p:cNvPr>
          <p:cNvSpPr>
            <a:spLocks noGrp="1"/>
          </p:cNvSpPr>
          <p:nvPr/>
        </p:nvSpPr>
        <p:spPr>
          <a:xfrm>
            <a:off x="6858000" y="4781550"/>
            <a:ext cx="411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45556C"/>
                </a:solidFill>
              </a:defRPr>
            </a:pPr>
            <a:r>
              <a:rPr sz="825" b="0">
                <a:solidFill>
                  <a:srgbClr val="45556C"/>
                </a:solidFill>
              </a:rPr>
              <a:t>Power BI - rich interactive dashboards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E300E79-F326-4692-9511-F7AD4DF6328E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104013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8F8395E-7C0E-4C69-BCE9-47AC073E86D2}"/>
              </a:ext>
            </a:extLst>
          </p:cNvPr>
          <p:cNvSpPr>
            <a:spLocks noGrp="1"/>
          </p:cNvSpPr>
          <p:nvPr/>
        </p:nvSpPr>
        <p:spPr>
          <a:xfrm>
            <a:off x="800100" y="5200650"/>
            <a:ext cx="1485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314158"/>
                </a:solidFill>
              </a:defRPr>
            </a:pPr>
            <a:r>
              <a:rPr sz="825" b="1">
                <a:solidFill>
                  <a:srgbClr val="314158"/>
                </a:solidFill>
              </a:rPr>
              <a:t>Integration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DF2BE96-441F-42C0-B9B4-84F3D27A3D6F}"/>
              </a:ext>
            </a:extLst>
          </p:cNvPr>
          <p:cNvSpPr>
            <a:spLocks noGrp="1"/>
          </p:cNvSpPr>
          <p:nvPr/>
        </p:nvSpPr>
        <p:spPr>
          <a:xfrm>
            <a:off x="2514600" y="5200650"/>
            <a:ext cx="411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45556C"/>
                </a:solidFill>
              </a:defRPr>
            </a:pPr>
            <a:r>
              <a:rPr sz="825" b="0">
                <a:solidFill>
                  <a:srgbClr val="45556C"/>
                </a:solidFill>
              </a:rPr>
              <a:t>Standalone POC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B2F47A1-5BFA-42B0-A0CA-14BC50101617}"/>
              </a:ext>
            </a:extLst>
          </p:cNvPr>
          <p:cNvSpPr>
            <a:spLocks noGrp="1"/>
          </p:cNvSpPr>
          <p:nvPr/>
        </p:nvSpPr>
        <p:spPr>
          <a:xfrm>
            <a:off x="6858000" y="5200650"/>
            <a:ext cx="411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45556C"/>
                </a:solidFill>
              </a:defRPr>
            </a:pPr>
            <a:r>
              <a:rPr sz="825" b="0">
                <a:solidFill>
                  <a:srgbClr val="45556C"/>
                </a:solidFill>
              </a:rPr>
              <a:t>Full Microsoft 365 ecosystem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2A22FBF0-0513-4FE7-AC23-70CE7089E0E6}"/>
              </a:ext>
            </a:extLst>
          </p:cNvPr>
          <p:cNvSpPr>
            <a:spLocks noGrp="1"/>
          </p:cNvSpPr>
          <p:nvPr/>
        </p:nvSpPr>
        <p:spPr>
          <a:xfrm>
            <a:off x="685800" y="5505450"/>
            <a:ext cx="10401300" cy="419100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4763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684BA5D-FEC4-4879-B5D2-AB47AA848C53}"/>
              </a:ext>
            </a:extLst>
          </p:cNvPr>
          <p:cNvSpPr>
            <a:spLocks noGrp="1"/>
          </p:cNvSpPr>
          <p:nvPr/>
        </p:nvSpPr>
        <p:spPr>
          <a:xfrm>
            <a:off x="800100" y="5619750"/>
            <a:ext cx="1485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314158"/>
                </a:solidFill>
              </a:defRPr>
            </a:pPr>
            <a:r>
              <a:rPr sz="825" b="1">
                <a:solidFill>
                  <a:srgbClr val="314158"/>
                </a:solidFill>
              </a:rPr>
              <a:t>Governance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55C9B82-7C88-47AE-9FAC-531259E1590C}"/>
              </a:ext>
            </a:extLst>
          </p:cNvPr>
          <p:cNvSpPr>
            <a:spLocks noGrp="1"/>
          </p:cNvSpPr>
          <p:nvPr/>
        </p:nvSpPr>
        <p:spPr>
          <a:xfrm>
            <a:off x="2514600" y="5619750"/>
            <a:ext cx="411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45556C"/>
                </a:solidFill>
              </a:defRPr>
            </a:pPr>
            <a:r>
              <a:rPr sz="825" b="0">
                <a:solidFill>
                  <a:srgbClr val="45556C"/>
                </a:solidFill>
              </a:rPr>
              <a:t>None - developer-managed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C6EDCF0-B122-40B0-AA2C-E26C0BCAB3AA}"/>
              </a:ext>
            </a:extLst>
          </p:cNvPr>
          <p:cNvSpPr>
            <a:spLocks noGrp="1"/>
          </p:cNvSpPr>
          <p:nvPr/>
        </p:nvSpPr>
        <p:spPr>
          <a:xfrm>
            <a:off x="6858000" y="5619750"/>
            <a:ext cx="411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45556C"/>
                </a:solidFill>
              </a:defRPr>
            </a:pPr>
            <a:r>
              <a:rPr sz="825" b="0">
                <a:solidFill>
                  <a:srgbClr val="45556C"/>
                </a:solidFill>
              </a:rPr>
              <a:t>Full audit trail, data lineage, cost mgmt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305E1D2-2F50-400F-AE50-DC602536028E}"/>
              </a:ext>
            </a:extLst>
          </p:cNvPr>
          <p:cNvSpPr>
            <a:spLocks noGrp="1"/>
          </p:cNvSpPr>
          <p:nvPr/>
        </p:nvSpPr>
        <p:spPr>
          <a:xfrm>
            <a:off x="685800" y="5924550"/>
            <a:ext cx="10401300" cy="41910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103502E-F012-45A6-B1E1-6E9BDD3E5870}"/>
              </a:ext>
            </a:extLst>
          </p:cNvPr>
          <p:cNvSpPr>
            <a:spLocks noGrp="1"/>
          </p:cNvSpPr>
          <p:nvPr/>
        </p:nvSpPr>
        <p:spPr>
          <a:xfrm>
            <a:off x="800100" y="6038850"/>
            <a:ext cx="1485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314158"/>
                </a:solidFill>
              </a:defRPr>
            </a:pPr>
            <a:r>
              <a:rPr sz="825" b="1">
                <a:solidFill>
                  <a:srgbClr val="314158"/>
                </a:solidFill>
              </a:rPr>
              <a:t>Maintainability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12A42CD-A304-4692-9681-A6B31865F34D}"/>
              </a:ext>
            </a:extLst>
          </p:cNvPr>
          <p:cNvSpPr>
            <a:spLocks noGrp="1"/>
          </p:cNvSpPr>
          <p:nvPr/>
        </p:nvSpPr>
        <p:spPr>
          <a:xfrm>
            <a:off x="2514600" y="6038850"/>
            <a:ext cx="411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45556C"/>
                </a:solidFill>
              </a:defRPr>
            </a:pPr>
            <a:r>
              <a:rPr sz="825" b="0">
                <a:solidFill>
                  <a:srgbClr val="45556C"/>
                </a:solidFill>
              </a:rPr>
              <a:t>Requires Python/MLOps skills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EF65410-3D8D-4B31-B0BE-0C1D541A9E9E}"/>
              </a:ext>
            </a:extLst>
          </p:cNvPr>
          <p:cNvSpPr>
            <a:spLocks noGrp="1"/>
          </p:cNvSpPr>
          <p:nvPr/>
        </p:nvSpPr>
        <p:spPr>
          <a:xfrm>
            <a:off x="6858000" y="6038850"/>
            <a:ext cx="411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45556C"/>
                </a:solidFill>
              </a:defRPr>
            </a:pPr>
            <a:r>
              <a:rPr sz="825" b="0">
                <a:solidFill>
                  <a:srgbClr val="45556C"/>
                </a:solidFill>
              </a:rPr>
              <a:t>Low-code + managed services</a:t>
            </a:r>
          </a:p>
        </p:txBody>
      </p:sp>
    </p:spTree>
    <p:extLst>
      <p:ext uri="{BB962C8B-B14F-4D97-AF65-F5344CB8AC3E}">
        <p14:creationId xmlns:p14="http://schemas.microsoft.com/office/powerpoint/2010/main" val="466733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45738C4-3640-469E-BFD8-3788A12BFF45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084D1"/>
                </a:solidFill>
              </a:defRPr>
            </a:pPr>
            <a:r>
              <a:rPr sz="900" b="1">
                <a:solidFill>
                  <a:srgbClr val="0084D1"/>
                </a:solidFill>
              </a:rPr>
              <a:t>DEEP DIVE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ABBA68-0CDC-4FC3-A98F-78CC173B470B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666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Where each approach wins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E159D1D-122B-459F-AD75-6A9247E53F4C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5238750" cy="3238500"/>
          </a:xfrm>
          <a:prstGeom prst="roundRect">
            <a:avLst>
              <a:gd name="adj" fmla="val 3529"/>
            </a:avLst>
          </a:prstGeom>
          <a:solidFill>
            <a:srgbClr val="F0F9FF"/>
          </a:solidFill>
          <a:ln w="9525">
            <a:solidFill>
              <a:srgbClr val="B8E6F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02B0F1-9BAA-4144-A05E-22C1AAC7BF16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0598A"/>
                </a:solidFill>
              </a:defRPr>
            </a:pPr>
            <a:r>
              <a:rPr sz="1500" b="1">
                <a:solidFill>
                  <a:srgbClr val="00598A"/>
                </a:solidFill>
              </a:rPr>
              <a:t>POC wins for...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808C89-F759-4C66-9A6A-CBC1A01A124A}"/>
              </a:ext>
            </a:extLst>
          </p:cNvPr>
          <p:cNvSpPr>
            <a:spLocks noGrp="1"/>
          </p:cNvSpPr>
          <p:nvPr/>
        </p:nvSpPr>
        <p:spPr>
          <a:xfrm>
            <a:off x="876300" y="2143125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314158"/>
                </a:solidFill>
              </a:defRPr>
            </a:pPr>
            <a:r>
              <a:rPr sz="975">
                <a:solidFill>
                  <a:srgbClr val="314158"/>
                </a:solidFill>
              </a:rPr>
              <a:t>+  Rapid experimentation - test ideas in hours, not weeks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E625BA-2320-4704-90D3-15AAAEA9FE2E}"/>
              </a:ext>
            </a:extLst>
          </p:cNvPr>
          <p:cNvSpPr>
            <a:spLocks noGrp="1"/>
          </p:cNvSpPr>
          <p:nvPr/>
        </p:nvSpPr>
        <p:spPr>
          <a:xfrm>
            <a:off x="876300" y="2600325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314158"/>
                </a:solidFill>
              </a:defRPr>
            </a:pPr>
            <a:r>
              <a:rPr sz="975">
                <a:solidFill>
                  <a:srgbClr val="314158"/>
                </a:solidFill>
              </a:rPr>
              <a:t>+  Zero budget required - runs on existing laptop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AEF302-10D8-4DB8-A506-A910B634F544}"/>
              </a:ext>
            </a:extLst>
          </p:cNvPr>
          <p:cNvSpPr>
            <a:spLocks noGrp="1"/>
          </p:cNvSpPr>
          <p:nvPr/>
        </p:nvSpPr>
        <p:spPr>
          <a:xfrm>
            <a:off x="876300" y="3057525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314158"/>
                </a:solidFill>
              </a:defRPr>
            </a:pPr>
            <a:r>
              <a:rPr sz="975">
                <a:solidFill>
                  <a:srgbClr val="314158"/>
                </a:solidFill>
              </a:rPr>
              <a:t>+  Full control - no procurement, no IT tickets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C73C58-599C-4AB1-A017-7584E5606197}"/>
              </a:ext>
            </a:extLst>
          </p:cNvPr>
          <p:cNvSpPr>
            <a:spLocks noGrp="1"/>
          </p:cNvSpPr>
          <p:nvPr/>
        </p:nvSpPr>
        <p:spPr>
          <a:xfrm>
            <a:off x="876300" y="3514725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314158"/>
                </a:solidFill>
              </a:defRPr>
            </a:pPr>
            <a:r>
              <a:rPr sz="975">
                <a:solidFill>
                  <a:srgbClr val="314158"/>
                </a:solidFill>
              </a:rPr>
              <a:t>+  Privacy - data never leaves the machine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76689F-6387-44FD-B7A5-C1F63FBAFDDF}"/>
              </a:ext>
            </a:extLst>
          </p:cNvPr>
          <p:cNvSpPr>
            <a:spLocks noGrp="1"/>
          </p:cNvSpPr>
          <p:nvPr/>
        </p:nvSpPr>
        <p:spPr>
          <a:xfrm>
            <a:off x="876300" y="3971925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314158"/>
                </a:solidFill>
              </a:defRPr>
            </a:pPr>
            <a:r>
              <a:rPr sz="975">
                <a:solidFill>
                  <a:srgbClr val="314158"/>
                </a:solidFill>
              </a:rPr>
              <a:t>+  Learning tool - team builds AI intuition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42F4227-EE69-425E-B0CB-C485E930ABEA}"/>
              </a:ext>
            </a:extLst>
          </p:cNvPr>
          <p:cNvSpPr>
            <a:spLocks noGrp="1"/>
          </p:cNvSpPr>
          <p:nvPr/>
        </p:nvSpPr>
        <p:spPr>
          <a:xfrm>
            <a:off x="6267450" y="1524000"/>
            <a:ext cx="5238750" cy="3238500"/>
          </a:xfrm>
          <a:prstGeom prst="roundRect">
            <a:avLst>
              <a:gd name="adj" fmla="val 3529"/>
            </a:avLst>
          </a:prstGeom>
          <a:solidFill>
            <a:srgbClr val="EEF2FF"/>
          </a:solidFill>
          <a:ln w="9525">
            <a:solidFill>
              <a:srgbClr val="C6D2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05D6E8-9FE8-4049-B805-05A147D05CF9}"/>
              </a:ext>
            </a:extLst>
          </p:cNvPr>
          <p:cNvSpPr>
            <a:spLocks noGrp="1"/>
          </p:cNvSpPr>
          <p:nvPr/>
        </p:nvSpPr>
        <p:spPr>
          <a:xfrm>
            <a:off x="6457950" y="1714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372AAC"/>
                </a:solidFill>
              </a:defRPr>
            </a:pPr>
            <a:r>
              <a:rPr sz="1500" b="1">
                <a:solidFill>
                  <a:srgbClr val="372AAC"/>
                </a:solidFill>
              </a:rPr>
              <a:t>Microsoft wins for...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0DE2E0-9ACD-4594-92CE-878303F8C067}"/>
              </a:ext>
            </a:extLst>
          </p:cNvPr>
          <p:cNvSpPr>
            <a:spLocks noGrp="1"/>
          </p:cNvSpPr>
          <p:nvPr/>
        </p:nvSpPr>
        <p:spPr>
          <a:xfrm>
            <a:off x="6457950" y="2143125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314158"/>
                </a:solidFill>
              </a:defRPr>
            </a:pPr>
            <a:r>
              <a:rPr sz="975">
                <a:solidFill>
                  <a:srgbClr val="314158"/>
                </a:solidFill>
              </a:rPr>
              <a:t>+  Production scale - billions of rows, thousands of users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9CF11F-8CD9-48F8-BBB8-01580A5451F7}"/>
              </a:ext>
            </a:extLst>
          </p:cNvPr>
          <p:cNvSpPr>
            <a:spLocks noGrp="1"/>
          </p:cNvSpPr>
          <p:nvPr/>
        </p:nvSpPr>
        <p:spPr>
          <a:xfrm>
            <a:off x="6457950" y="2600325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314158"/>
                </a:solidFill>
              </a:defRPr>
            </a:pPr>
            <a:r>
              <a:rPr sz="975">
                <a:solidFill>
                  <a:srgbClr val="314158"/>
                </a:solidFill>
              </a:rPr>
              <a:t>+  Enterprise security - Entra ID, RBAC, Private Link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AA8098-4A49-4BB4-9164-698CD4C8932A}"/>
              </a:ext>
            </a:extLst>
          </p:cNvPr>
          <p:cNvSpPr>
            <a:spLocks noGrp="1"/>
          </p:cNvSpPr>
          <p:nvPr/>
        </p:nvSpPr>
        <p:spPr>
          <a:xfrm>
            <a:off x="6457950" y="3057525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314158"/>
                </a:solidFill>
              </a:defRPr>
            </a:pPr>
            <a:r>
              <a:rPr sz="975">
                <a:solidFill>
                  <a:srgbClr val="314158"/>
                </a:solidFill>
              </a:rPr>
              <a:t>+  Better LLM - GPT-4o/5 outperforms Llama 3.1 8B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A7F9A5-B031-4D4C-B4D6-9282A6401573}"/>
              </a:ext>
            </a:extLst>
          </p:cNvPr>
          <p:cNvSpPr>
            <a:spLocks noGrp="1"/>
          </p:cNvSpPr>
          <p:nvPr/>
        </p:nvSpPr>
        <p:spPr>
          <a:xfrm>
            <a:off x="6457950" y="3514725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314158"/>
                </a:solidFill>
              </a:defRPr>
            </a:pPr>
            <a:r>
              <a:rPr sz="975">
                <a:solidFill>
                  <a:srgbClr val="314158"/>
                </a:solidFill>
              </a:rPr>
              <a:t>+  Microsoft 365 integration - Teams, Power BI, SharePoint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32D7A0-5485-4435-98EF-1ABACE05234E}"/>
              </a:ext>
            </a:extLst>
          </p:cNvPr>
          <p:cNvSpPr>
            <a:spLocks noGrp="1"/>
          </p:cNvSpPr>
          <p:nvPr/>
        </p:nvSpPr>
        <p:spPr>
          <a:xfrm>
            <a:off x="6457950" y="3971925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314158"/>
                </a:solidFill>
              </a:defRPr>
            </a:pPr>
            <a:r>
              <a:rPr sz="975">
                <a:solidFill>
                  <a:srgbClr val="314158"/>
                </a:solidFill>
              </a:rPr>
              <a:t>+  Managed services - auto-patching, 99.9% SLA</a:t>
            </a:r>
          </a:p>
        </p:txBody>
      </p:sp>
    </p:spTree>
    <p:extLst>
      <p:ext uri="{BB962C8B-B14F-4D97-AF65-F5344CB8AC3E}">
        <p14:creationId xmlns:p14="http://schemas.microsoft.com/office/powerpoint/2010/main" val="1138279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5B93C24-DB37-4AA8-BC86-700B1BFD8267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00BCFF"/>
                </a:solidFill>
              </a:defRPr>
            </a:pPr>
            <a:r>
              <a:rPr sz="900" b="1">
                <a:solidFill>
                  <a:srgbClr val="00BCFF"/>
                </a:solidFill>
              </a:rPr>
              <a:t>RECOMMENDATION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74D864-A34F-415C-96EA-723044F73C8D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571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Two-phase strategy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59A5FBB-4736-4138-805D-04C00CBC7DF9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4572000" cy="2667000"/>
          </a:xfrm>
          <a:prstGeom prst="roundRect">
            <a:avLst>
              <a:gd name="adj" fmla="val 4286"/>
            </a:avLst>
          </a:prstGeom>
          <a:solidFill>
            <a:srgbClr val="1D293D"/>
          </a:solidFill>
          <a:ln w="9525">
            <a:solidFill>
              <a:srgbClr val="31415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06D5DBC-B9EB-4C31-B692-85D2E7E343C4}"/>
              </a:ext>
            </a:extLst>
          </p:cNvPr>
          <p:cNvSpPr>
            <a:spLocks noGrp="1"/>
          </p:cNvSpPr>
          <p:nvPr/>
        </p:nvSpPr>
        <p:spPr>
          <a:xfrm>
            <a:off x="952500" y="2095500"/>
            <a:ext cx="457200" cy="457200"/>
          </a:xfrm>
          <a:prstGeom prst="ellipse">
            <a:avLst/>
          </a:prstGeom>
          <a:solidFill>
            <a:srgbClr val="00A6F4"/>
          </a:solidFill>
          <a:ln w="0">
            <a:noFill/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60EBA3-4AA7-4A5B-8608-42AAC562A78E}"/>
              </a:ext>
            </a:extLst>
          </p:cNvPr>
          <p:cNvSpPr>
            <a:spLocks noGrp="1"/>
          </p:cNvSpPr>
          <p:nvPr/>
        </p:nvSpPr>
        <p:spPr>
          <a:xfrm>
            <a:off x="952500" y="215265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A91604-24C1-47A5-9A4C-5969956FE16F}"/>
              </a:ext>
            </a:extLst>
          </p:cNvPr>
          <p:cNvSpPr>
            <a:spLocks noGrp="1"/>
          </p:cNvSpPr>
          <p:nvPr/>
        </p:nvSpPr>
        <p:spPr>
          <a:xfrm>
            <a:off x="1562100" y="21717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POC - Now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24BF72-43DD-4774-BF75-B79E6AF4C5F8}"/>
              </a:ext>
            </a:extLst>
          </p:cNvPr>
          <p:cNvSpPr>
            <a:spLocks noGrp="1"/>
          </p:cNvSpPr>
          <p:nvPr/>
        </p:nvSpPr>
        <p:spPr>
          <a:xfrm>
            <a:off x="952500" y="2762250"/>
            <a:ext cx="4000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CAD5E2"/>
                </a:solidFill>
              </a:defRPr>
            </a:pPr>
            <a:r>
              <a:rPr sz="1050">
                <a:solidFill>
                  <a:srgbClr val="CAD5E2"/>
                </a:solidFill>
              </a:rPr>
              <a:t>Continue refining the local agent. Add 3-5 more business question patterns, expand the knowledge base, and demo to 2-3 stakeholder groups for feedback. Build confidence and use cases.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FA763A-040F-4206-BAE6-A74CBB21447F}"/>
              </a:ext>
            </a:extLst>
          </p:cNvPr>
          <p:cNvSpPr>
            <a:spLocks noGrp="1"/>
          </p:cNvSpPr>
          <p:nvPr/>
        </p:nvSpPr>
        <p:spPr>
          <a:xfrm>
            <a:off x="952500" y="38100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90A1B9"/>
                </a:solidFill>
              </a:defRPr>
            </a:pPr>
            <a:r>
              <a:rPr sz="750" b="1">
                <a:solidFill>
                  <a:srgbClr val="90A1B9"/>
                </a:solidFill>
              </a:rPr>
              <a:t>TIMELINE: 4-6 WEEKS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0489C7-714B-4D40-BD1F-23F9D663F6D1}"/>
              </a:ext>
            </a:extLst>
          </p:cNvPr>
          <p:cNvSpPr>
            <a:spLocks noGrp="1"/>
          </p:cNvSpPr>
          <p:nvPr/>
        </p:nvSpPr>
        <p:spPr>
          <a:xfrm>
            <a:off x="952500" y="40005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Python, Ollama, DuckDB, Streamlit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951BEF-C89F-402A-9AE8-CFC8BBBCC63A}"/>
              </a:ext>
            </a:extLst>
          </p:cNvPr>
          <p:cNvSpPr>
            <a:spLocks noGrp="1"/>
          </p:cNvSpPr>
          <p:nvPr/>
        </p:nvSpPr>
        <p:spPr>
          <a:xfrm>
            <a:off x="5429250" y="2857500"/>
            <a:ext cx="57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>
                <a:solidFill>
                  <a:srgbClr val="62748E"/>
                </a:solidFill>
              </a:defRPr>
            </a:pPr>
            <a:r>
              <a:rPr sz="3000">
                <a:solidFill>
                  <a:srgbClr val="62748E"/>
                </a:solidFill>
              </a:rPr>
              <a:t>→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245D750-F971-4B74-8855-B16A1146E017}"/>
              </a:ext>
            </a:extLst>
          </p:cNvPr>
          <p:cNvSpPr>
            <a:spLocks noGrp="1"/>
          </p:cNvSpPr>
          <p:nvPr/>
        </p:nvSpPr>
        <p:spPr>
          <a:xfrm>
            <a:off x="6286500" y="1905000"/>
            <a:ext cx="5219700" cy="2667000"/>
          </a:xfrm>
          <a:prstGeom prst="roundRect">
            <a:avLst>
              <a:gd name="adj" fmla="val 4286"/>
            </a:avLst>
          </a:prstGeom>
          <a:solidFill>
            <a:srgbClr val="1D293D"/>
          </a:solidFill>
          <a:ln w="9525">
            <a:solidFill>
              <a:srgbClr val="31415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A0E1A01-04E6-4F95-8DD0-E08615DA778A}"/>
              </a:ext>
            </a:extLst>
          </p:cNvPr>
          <p:cNvSpPr>
            <a:spLocks noGrp="1"/>
          </p:cNvSpPr>
          <p:nvPr/>
        </p:nvSpPr>
        <p:spPr>
          <a:xfrm>
            <a:off x="6553200" y="2095500"/>
            <a:ext cx="457200" cy="457200"/>
          </a:xfrm>
          <a:prstGeom prst="ellipse">
            <a:avLst/>
          </a:prstGeom>
          <a:solidFill>
            <a:srgbClr val="615FFF"/>
          </a:solidFill>
          <a:ln w="0">
            <a:noFill/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AADDC2-83F7-4D7B-9C44-A1FAF16EF3C1}"/>
              </a:ext>
            </a:extLst>
          </p:cNvPr>
          <p:cNvSpPr>
            <a:spLocks noGrp="1"/>
          </p:cNvSpPr>
          <p:nvPr/>
        </p:nvSpPr>
        <p:spPr>
          <a:xfrm>
            <a:off x="6553200" y="215265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5859A0-8D73-4620-9AA2-6B6713B3D132}"/>
              </a:ext>
            </a:extLst>
          </p:cNvPr>
          <p:cNvSpPr>
            <a:spLocks noGrp="1"/>
          </p:cNvSpPr>
          <p:nvPr/>
        </p:nvSpPr>
        <p:spPr>
          <a:xfrm>
            <a:off x="7162800" y="217170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Production - Next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392BAD-9A48-4754-BF46-1630E61544C5}"/>
              </a:ext>
            </a:extLst>
          </p:cNvPr>
          <p:cNvSpPr>
            <a:spLocks noGrp="1"/>
          </p:cNvSpPr>
          <p:nvPr/>
        </p:nvSpPr>
        <p:spPr>
          <a:xfrm>
            <a:off x="6553200" y="2762250"/>
            <a:ext cx="46482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CAD5E2"/>
                </a:solidFill>
              </a:defRPr>
            </a:pPr>
            <a:r>
              <a:rPr sz="1050">
                <a:solidFill>
                  <a:srgbClr val="CAD5E2"/>
                </a:solidFill>
              </a:rPr>
              <a:t>Migrate proven patterns to Azure stack. Connect real data sources, deploy as Teams bot + Power BI dashboards, add governance and monitoring. Scale to full organization.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D07192-6572-4052-979B-D4339CBFBDDF}"/>
              </a:ext>
            </a:extLst>
          </p:cNvPr>
          <p:cNvSpPr>
            <a:spLocks noGrp="1"/>
          </p:cNvSpPr>
          <p:nvPr/>
        </p:nvSpPr>
        <p:spPr>
          <a:xfrm>
            <a:off x="6553200" y="38100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90A1B9"/>
                </a:solidFill>
              </a:defRPr>
            </a:pPr>
            <a:r>
              <a:rPr sz="750" b="1">
                <a:solidFill>
                  <a:srgbClr val="90A1B9"/>
                </a:solidFill>
              </a:rPr>
              <a:t>TIMELINE: 3-6 MONTHS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C2C975-648C-485B-99AB-1B1C2C2AC64B}"/>
              </a:ext>
            </a:extLst>
          </p:cNvPr>
          <p:cNvSpPr>
            <a:spLocks noGrp="1"/>
          </p:cNvSpPr>
          <p:nvPr/>
        </p:nvSpPr>
        <p:spPr>
          <a:xfrm>
            <a:off x="6553200" y="40005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Azure OpenAI, SQL, Power BI, Teams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D95B13-6FB3-4CCF-B647-FE0FD7F33860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90A1B9"/>
                </a:solidFill>
              </a:defRPr>
            </a:pPr>
            <a:r>
              <a:rPr sz="975">
                <a:solidFill>
                  <a:srgbClr val="90A1B9"/>
                </a:solidFill>
              </a:rPr>
              <a:t>Key principle: Validate locally, scale with enterprise. The POC de-risks the approach - the knowledge base, prompt patterns, and question taxonomy transfer directly to Azure OpenAI with minimal rework.</a:t>
            </a:r>
          </a:p>
        </p:txBody>
      </p:sp>
    </p:spTree>
    <p:extLst>
      <p:ext uri="{BB962C8B-B14F-4D97-AF65-F5344CB8AC3E}">
        <p14:creationId xmlns:p14="http://schemas.microsoft.com/office/powerpoint/2010/main" val="13925947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826</Words>
  <Application>Microsoft Office PowerPoint</Application>
  <DocSecurity>0</DocSecurity>
  <PresentationFormat>Widescreen</PresentationFormat>
  <Paragraphs>148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jason_huo_ai</cp:lastModifiedBy>
  <cp:revision>1</cp:revision>
  <dcterms:created xsi:type="dcterms:W3CDTF">2026-06-27T13:11:43Z</dcterms:created>
  <dcterms:modified xsi:type="dcterms:W3CDTF">2026-06-27T13:17:34Z</dcterms:modified>
</cp:coreProperties>
</file>