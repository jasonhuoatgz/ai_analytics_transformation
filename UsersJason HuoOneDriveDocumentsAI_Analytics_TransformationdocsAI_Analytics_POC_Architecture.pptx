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077cb83d494efb" /><Relationship Type="http://schemas.openxmlformats.org/officeDocument/2006/relationships/extended-properties" Target="/docProps/app.xml" Id="R0e4a2b24ec0049d6" /><Relationship Type="http://schemas.openxmlformats.org/officeDocument/2006/relationships/officeDocument" Target="/ppt/presentation.xml" Id="R5e47872b713e4e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e423d305348a4"/>
  </p:sldMasterIdLst>
  <p:notesMasterIdLst>
    <p:notesMasterId xmlns:r="http://schemas.openxmlformats.org/officeDocument/2006/relationships" r:id="R133599e9f16d4e99"/>
  </p:notesMasterIdLst>
  <p:sldIdLst>
    <p:sldId xmlns:r="http://schemas.openxmlformats.org/officeDocument/2006/relationships" id="256" r:id="R8c63957ab09f46b1"/>
    <p:sldId xmlns:r="http://schemas.openxmlformats.org/officeDocument/2006/relationships" id="257" r:id="Rf00a1f7e8c1f41e7"/>
    <p:sldId xmlns:r="http://schemas.openxmlformats.org/officeDocument/2006/relationships" id="258" r:id="Rad02da4812384e42"/>
    <p:sldId xmlns:r="http://schemas.openxmlformats.org/officeDocument/2006/relationships" id="259" r:id="Rabaf000e65694798"/>
    <p:sldId xmlns:r="http://schemas.openxmlformats.org/officeDocument/2006/relationships" id="260" r:id="R6be1cdd394a1496b"/>
    <p:sldId xmlns:r="http://schemas.openxmlformats.org/officeDocument/2006/relationships" id="261" r:id="Rc0a3157572bf43bd"/>
    <p:sldId xmlns:r="http://schemas.openxmlformats.org/officeDocument/2006/relationships" id="262" r:id="R99a1bb06648549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2e745adf84075" /><Relationship Type="http://schemas.openxmlformats.org/officeDocument/2006/relationships/slideMaster" Target="/ppt/slideMasters/slideMaster1.xml" Id="Rc03e423d305348a4" /><Relationship Type="http://schemas.openxmlformats.org/officeDocument/2006/relationships/notesMaster" Target="/ppt/notesMasters/notesMaster1.xml" Id="R133599e9f16d4e99" /><Relationship Type="http://schemas.openxmlformats.org/officeDocument/2006/relationships/presProps" Target="/ppt/presProps.xml" Id="Rcadbdeae96ba406a" /><Relationship Type="http://schemas.openxmlformats.org/officeDocument/2006/relationships/tableStyles" Target="/ppt/tableStyles.xml" Id="R17d5b00d8f154663" /><Relationship Type="http://schemas.openxmlformats.org/officeDocument/2006/relationships/slide" Target="/ppt/slides/slide1.xml" Id="R8c63957ab09f46b1" /><Relationship Type="http://schemas.openxmlformats.org/officeDocument/2006/relationships/slide" Target="/ppt/slides/slide2.xml" Id="Rf00a1f7e8c1f41e7" /><Relationship Type="http://schemas.openxmlformats.org/officeDocument/2006/relationships/slide" Target="/ppt/slides/slide3.xml" Id="Rad02da4812384e42" /><Relationship Type="http://schemas.openxmlformats.org/officeDocument/2006/relationships/slide" Target="/ppt/slides/slide4.xml" Id="Rabaf000e65694798" /><Relationship Type="http://schemas.openxmlformats.org/officeDocument/2006/relationships/slide" Target="/ppt/slides/slide5.xml" Id="R6be1cdd394a1496b" /><Relationship Type="http://schemas.openxmlformats.org/officeDocument/2006/relationships/slide" Target="/ppt/slides/slide6.xml" Id="Rc0a3157572bf43bd" /><Relationship Type="http://schemas.openxmlformats.org/officeDocument/2006/relationships/slide" Target="/ppt/slides/slide7.xml" Id="R99a1bb06648549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8ed3c7b25942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b10033b2a0464e" /><Relationship Type="http://schemas.openxmlformats.org/officeDocument/2006/relationships/notesMaster" Target="/ppt/notesMasters/notesMaster1.xml" Id="Ra0ef49db060a4d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a8d0884d0149a9" /><Relationship Type="http://schemas.openxmlformats.org/officeDocument/2006/relationships/notesMaster" Target="/ppt/notesMasters/notesMaster1.xml" Id="Re21546a8364048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ecc33ca197413e" /><Relationship Type="http://schemas.openxmlformats.org/officeDocument/2006/relationships/notesMaster" Target="/ppt/notesMasters/notesMaster1.xml" Id="Rc23c0352430d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7f2e4696054e93" /><Relationship Type="http://schemas.openxmlformats.org/officeDocument/2006/relationships/notesMaster" Target="/ppt/notesMasters/notesMaster1.xml" Id="R82046e992d2c48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829fb8b53e4a30" /><Relationship Type="http://schemas.openxmlformats.org/officeDocument/2006/relationships/notesMaster" Target="/ppt/notesMasters/notesMaster1.xml" Id="Re27d337c872942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81978f99a2445c" /><Relationship Type="http://schemas.openxmlformats.org/officeDocument/2006/relationships/notesMaster" Target="/ppt/notesMasters/notesMaster1.xml" Id="R9d310982939647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f1a96b81504055" /><Relationship Type="http://schemas.openxmlformats.org/officeDocument/2006/relationships/notesMaster" Target="/ppt/notesMasters/notesMaster1.xml" Id="Re617677fc5864b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3f8ed230043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1c9c3ccb2242fe" /><Relationship Type="http://schemas.openxmlformats.org/officeDocument/2006/relationships/slideLayout" Target="/ppt/slideLayouts/slideLayout1.xml" Id="R4a6a9f6b12b347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6a9f6b12b347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26cf1e0d340f7" /><Relationship Type="http://schemas.openxmlformats.org/officeDocument/2006/relationships/notesSlide" Target="/ppt/notesSlides/notesSlide1.xml" Id="Rbe556dbe283547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d4f540f744d2f" /><Relationship Type="http://schemas.openxmlformats.org/officeDocument/2006/relationships/notesSlide" Target="/ppt/notesSlides/notesSlide2.xml" Id="R40a60a07126848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3ed16f1534a53" /><Relationship Type="http://schemas.openxmlformats.org/officeDocument/2006/relationships/notesSlide" Target="/ppt/notesSlides/notesSlide3.xml" Id="Rad1de84b479b4b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e9a7752ba44ae" /><Relationship Type="http://schemas.openxmlformats.org/officeDocument/2006/relationships/notesSlide" Target="/ppt/notesSlides/notesSlide4.xml" Id="Rd1eb9587b87e4a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b8a0a66044dbe" /><Relationship Type="http://schemas.openxmlformats.org/officeDocument/2006/relationships/notesSlide" Target="/ppt/notesSlides/notesSlide5.xml" Id="R4ab2631f834649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a03d455ec4838" /><Relationship Type="http://schemas.openxmlformats.org/officeDocument/2006/relationships/notesSlide" Target="/ppt/notesSlides/notesSlide6.xml" Id="Rcfb8f7e2a64e45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651ba6e5e45f6" /><Relationship Type="http://schemas.openxmlformats.org/officeDocument/2006/relationships/notesSlide" Target="/ppt/notesSlides/notesSlide7.xml" Id="Rc276e570c48249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9FDA5-8122-465B-B725-665A6F38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212E5-3C8F-4E79-AFC9-3B1185F5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AI-Led Customer Analytics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06C3C-305C-4FFD-8CA3-C8A915D5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4A3B8"/>
                </a:solidFill>
              </a:defRPr>
            </a:pPr>
            <a:r>
              <a:rPr sz="1500">
                <a:solidFill>
                  <a:srgbClr val="94A3B8"/>
                </a:solidFill>
              </a:rPr>
              <a:t>From Traditional Analytics to AI-Agent-Led Insights —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A242E-011E-45CC-81C4-CAC77F8F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June 2026  |  Jason Huo  |  Customer Analytics</a:t>
            </a:r>
          </a:p>
        </p:txBody>
      </p:sp>
    </p:spTree>
    <p:extLst>
      <p:ext uri="{BB962C8B-B14F-4D97-AF65-F5344CB8AC3E}">
        <p14:creationId xmlns:p14="http://schemas.microsoft.com/office/powerpoint/2010/main" val="1987964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858DA-B877-4897-95CF-2F2ADC3B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3AE09-C68D-4654-8E89-E172F3B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Current POC Architecture — Local-First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93CBB-4F9A-4122-8890-7F1C3734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27983-7749-41AA-A844-413EE5B8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User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(Streamlit UI)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1B649-C108-4052-9CD6-5C168D8A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76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4748B"/>
                </a:solidFill>
              </a:defRPr>
            </a:pPr>
            <a:r>
              <a:rPr sz="210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E6993-77B8-4089-B6C9-287C352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C79E0-84C5-4E95-AEE1-9CB93EBB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193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Query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84A56-A160-4791-8EB3-1FEB8526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76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4748B"/>
                </a:solidFill>
              </a:defRPr>
            </a:pPr>
            <a:r>
              <a:rPr sz="210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3426D-8F04-4D18-8765-97370710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38217-239F-433B-AB02-50EE8915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Ollama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llama3.1:8b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056AA-E6FF-4DFD-9BC7-74E31AA8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4748B"/>
                </a:solidFill>
              </a:defRPr>
            </a:pPr>
            <a:r>
              <a:rPr sz="210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A7B13-CED1-4E75-8BD7-39F8C91B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BA447-73B6-46F6-A717-EEFC5A4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SQL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776FB-2DA4-4882-8F4E-279BF01F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4748B"/>
                </a:solidFill>
              </a:defRPr>
            </a:pPr>
            <a:r>
              <a:rPr sz="210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944E7-114E-4750-B5A5-9C3CC941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1B302-29AF-48B7-9236-F9B9F509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DuckDB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(OLAP)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B4BCD-1543-4691-9D4B-7A7D83B0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4748B"/>
                </a:solidFill>
              </a:defRPr>
            </a:pPr>
            <a:r>
              <a:rPr sz="210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C31FB-4410-4410-BF68-38A2722D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23B7D-B56F-4F39-86FC-B354A557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193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Results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+ Charts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7C67B-BD32-4C97-9DB6-6E62FA4D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4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7EC19-8357-4EC1-8E17-3088F1AB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▸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66962-3E1E-4EA5-9078-B6EE92D0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Python 3.12  |  Ollama (local)  |  RTX 5070 Ti (12 GB VRAM)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594EF-4EAF-4C1F-B415-48899F28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▸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3B785-DCAA-4D37-B280-08EA2441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DuckDB embedded OLAP  |  57,600 rows  |  Single-table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17518-6620-4277-A0EE-4D0D19D9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▸ LLM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939BE-81EE-4A81-90ED-498F336A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llama3.1:8b (Q4_K_M, 5.3 GB)  |  131K context window  |  3-7s 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C01FE8-E793-404C-841F-19A2BA4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▸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49AC91-1F67-4BCA-92CB-E4300BC9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Streamlit 1.58  |  Altair charts  |  Comma-formatted numbers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3F017-3F8C-4C8F-A0A2-9A90227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▸ 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68E04-2DE4-4427-886F-B7DA2F6D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100% local  |  Zero data egress  |  Read-only DuckDB access</a:t>
            </a:r>
          </a:p>
        </p:txBody>
      </p:sp>
    </p:spTree>
    <p:extLst>
      <p:ext uri="{BB962C8B-B14F-4D97-AF65-F5344CB8AC3E}">
        <p14:creationId xmlns:p14="http://schemas.microsoft.com/office/powerpoint/2010/main" val="969196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EB86CC-5C2D-433C-86B3-05095E5C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6BD58-08F9-4AE2-A445-7045914A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Current POC — Strengths &amp;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0F892-E563-48B7-BE4D-DF5559B3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5334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AF63D-30EB-440F-9A57-45DC1390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  Strengths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D1219-4900-47AE-A93B-EACD180F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Zero licensing cost — all open-source components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E3442-B6C8-4E3D-874E-E63A551F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100% local — no data leaves the laptop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25E69-64D2-4CF5-A984-71A6DE75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Fast iteration — change prompt, redeploy instantly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5803-D015-4EAB-9A0A-B4C5910B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GPU-accelerated — RTX 5070 Ti, 3-7s per 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F6ED5-3A45-4736-9E58-D647045D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131K context window — room for 30+ 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B8394-6DD4-4F6D-AFD4-BC0AE2BB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No procurement or InfoSec approval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42654-0CFD-4EE3-ABED-24DA0BA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5334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BB805-C1A0-4802-B997-55DA9188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⚠  Limitations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819FF-D263-4C68-98F5-FA81737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8B model — occasional format compliance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B25BC-EAE2-4A0F-A32B-3F12F5F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Single-user — no concurrent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D02DB-5CAB-4DA7-904B-A90A41F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Manual environment setup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22766-9463-4200-8E9F-11FB1458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No enterprise SSO, audit trail, or 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2BA5E-AE31-4B60-ADCB-E82CF606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Limited to structured SQL — no free-text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33D61-9212-414B-BC1C-4FD39363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Not integrated with existing Microsoft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0A823-E05D-4BA8-AED4-86DFB802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1049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77093-E38C-4CBC-832C-F6BD53BD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Key takeaway: The POC proves AI-agent-led analytics is viable for life insurance customer data. The architecture delivers correct SQL, business insights, and formatted charts — all locally. The gap is enterprise readiness.</a:t>
            </a:r>
          </a:p>
        </p:txBody>
      </p:sp>
    </p:spTree>
    <p:extLst>
      <p:ext uri="{BB962C8B-B14F-4D97-AF65-F5344CB8AC3E}">
        <p14:creationId xmlns:p14="http://schemas.microsoft.com/office/powerpoint/2010/main" val="1758776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4FF12-7B90-4152-9409-90EAE5D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C6FEF-0F20-46DF-B960-FB91E112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Future State — Microsoft Enterprise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FBF1D-61BD-4750-8C95-4F1F22AE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A8CA5-E8D9-43AF-AFF9-F4FC37ED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User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Teams /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25DE3-1DD6-45E7-A186-FD07D954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145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4748B"/>
                </a:solidFill>
              </a:defRPr>
            </a:pPr>
            <a:r>
              <a:rPr sz="225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A9E36-6C54-4F58-901F-6964A7F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240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47951-0A77-4704-B578-E8D0A578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Azure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OpenAI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GPT-4o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74B20-3B84-4181-8D27-59F40D5E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145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4748B"/>
                </a:solidFill>
              </a:defRPr>
            </a:pPr>
            <a:r>
              <a:rPr sz="225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99B2F-8263-45AF-9EF2-432805A3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4ABB5-A5AC-4A50-9242-67BA7E2D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192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Azure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AI Search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(RAG)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A729B-B21A-4C5D-9222-D8A62140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4748B"/>
                </a:solidFill>
              </a:defRPr>
            </a:pPr>
            <a:r>
              <a:rPr sz="225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C49A8-BD7D-404F-BEDF-6FC98153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7688A-E477-43AB-A98C-C7EFA854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Azure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SQL / Fabric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1F26E-1422-47CC-AAEB-2779053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4748B"/>
                </a:solidFill>
              </a:defRPr>
            </a:pPr>
            <a:r>
              <a:rPr sz="225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DE64D-B9B5-482D-B3C7-E072C7E4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29F7C-52D7-4389-B859-011612F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192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Power BI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Dashboards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EA1B6-2664-409F-B7D7-2C157992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145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4748B"/>
                </a:solidFill>
              </a:defRPr>
            </a:pPr>
            <a:r>
              <a:rPr sz="225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4A12A-2602-4901-9A46-0F5465F7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5D968-AC1C-4716-878B-5F8322A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6192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Entra ID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+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28753-FAA0-408B-9A27-8AA05439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AI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DCD62-A156-48A2-A2D6-5340161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Azure OpenAI (GPT-4o) for NL-to-SQL  |  Azure AI Search for RAG knowledge base  |  Prompt Flow for orchestration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D6252-9628-40E2-B352-36F37317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Data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4DFE4-C690-43C7-B941-0F8C3714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Azure SQL Database / Microsoft Fabric  |  Power BI semantic models  |  Entra ID for RBAC and SSO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DC689-962B-4EAE-9DB6-6600DCE2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UX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019AD-F482-4F21-BFCB-C8235F1D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Teams bot for conversational queries  |  Power BI embedded dashboards  |  Power Automate for scheduled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E33BC-95A5-4D7E-9FDF-B765D3BB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F8F18-F69C-469D-AB6C-29DD1E8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Azure Policy for compliance  |  Microsoft Purview for data lineage  |  Azure Monitor for observability</a:t>
            </a:r>
          </a:p>
        </p:txBody>
      </p:sp>
    </p:spTree>
    <p:extLst>
      <p:ext uri="{BB962C8B-B14F-4D97-AF65-F5344CB8AC3E}">
        <p14:creationId xmlns:p14="http://schemas.microsoft.com/office/powerpoint/2010/main" val="1273863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BDAD77-7776-4009-B5AB-0B84BBC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FA426-77FC-422E-83A8-1A4A5BA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Microsoft Stack — Strengths &amp;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82F1F-8C16-427A-91E5-9D90C6D2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5334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AD8E8-8858-4AF4-AD94-F6D7BF56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  Enterprise Advantages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3BE0F-A4D8-45AF-9E17-35C15C7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GPT-4o — far superior SQL generation &amp; reasoning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BF0C8-3990-417E-A01F-2579C6B8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Multi-user, concurrent access with Entra ID SSO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13A73-6F50-4432-8675-432393B7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Managed services — no infra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84852-6B52-4112-B6DA-912FD2E7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Power BI integration — existing dashboards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82627-A18E-49B7-A804-F80883F6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Compliance ready — audit trails, data lineage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5F658-C4BA-4064-9428-C783767C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Teams integration — query from anywhere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834D9-231B-4FC2-A103-DE7F8FA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5334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78440-4380-4936-AA26-25295715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⚠  Trade-offs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CFC54-E51F-4AE1-B599-47BAC73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Monthly Azure cost — compute + API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BF32B-E0D6-47D5-9CA7-0C47CF4D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Procurement lead time — enterprise approval 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C977F-9F5C-4435-945E-05CC9880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Data migration from on-prem to Azure 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A5B71-1E06-482C-BEE3-E96F954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Network dependency — requires internet connectivity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B95F9-E590-4F45-85C6-04DC8C21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Model pricing at scale — per-token GPT-4o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2B141-CB61-4FDF-B076-A1F2CE1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Vendor lock-in — deep Microsoft ecosystem coupling</a:t>
            </a:r>
          </a:p>
        </p:txBody>
      </p:sp>
    </p:spTree>
    <p:extLst>
      <p:ext uri="{BB962C8B-B14F-4D97-AF65-F5344CB8AC3E}">
        <p14:creationId xmlns:p14="http://schemas.microsoft.com/office/powerpoint/2010/main" val="372830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8B3E1D-96F5-4F82-BB5E-CCCE2EFD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836D8-633A-48EE-BB63-A9236124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Head-to-Head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0658D-FF25-4F83-9597-93F58602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CF30D-F512-4092-8C8B-464EBA77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E0377-482B-4E54-B8CF-2FA4FE39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B1E96-451B-46AE-A34C-BDA70196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2192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Current POC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766C2-6F66-43F6-80F8-2DFA9BE8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D0556-21D3-4278-BC2B-90A4E93A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Microsoft 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39BC0-2602-4716-A09F-DC0558D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430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2A5CC-DEDC-4F93-BD01-BE124A99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19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Advantage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42022-5E6D-469D-883E-06BD90B1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5E4C7-B9F7-43A9-884E-3AA82D98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23CA9-FA90-4999-B0EA-B04F960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C6971-BC91-493F-B617-443B26D4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192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Free (open-source)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444E2-612B-4A9B-813B-773097B9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430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C43EE-5DD3-42E9-A3DE-02893F40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Pay-per-use (Azure)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B5CE1-085B-4CFB-9C1E-16AABB6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536F3-0619-4437-B732-0E176986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192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563EB"/>
                </a:solidFill>
              </a:defRPr>
            </a:pPr>
            <a:r>
              <a:rPr sz="1050" b="0">
                <a:solidFill>
                  <a:srgbClr val="2563EB"/>
                </a:solidFill>
              </a:rPr>
              <a:t>POC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C2124-0D40-4098-8230-84BEF414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0DF98-186E-4F5D-8661-95234623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Model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81197-A634-4AC8-A876-A94C6EFB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431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0F8C4-8DA8-4A70-91DC-555E9598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193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8B — good, needs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BAEA5-025E-44B4-8570-615476A1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9748F-A496-4F69-A81C-67636F69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GPT-4o — excellent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8BD78-5F6D-4C03-B383-70B2E461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431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063AD-DA49-47C9-9B65-F96CE1B0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C3AED"/>
                </a:solidFill>
              </a:defRPr>
            </a:pPr>
            <a:r>
              <a:rPr sz="1050" b="0">
                <a:solidFill>
                  <a:srgbClr val="7C3AED"/>
                </a:solidFill>
              </a:rPr>
              <a:t>Microsoft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ECB8B-F3AD-4CD5-AC23-59EEE383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36C01-D67B-4FD9-B3E7-85848610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Privacy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92128-0D35-4790-B9DE-4F3CE2CD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561A8-505D-42BA-8F2A-DF5A4948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100% local, zero egress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C4FC06-3103-4C04-99F3-D60BDA2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55B47C-45A2-4718-915A-1E69CB24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Azure tenant, encrypted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2D64CC-1304-4DFB-94BE-B3ED4AE9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269DEE-A4EC-4343-8A9A-1B15B8ED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193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563EB"/>
                </a:solidFill>
              </a:defRPr>
            </a:pPr>
            <a:r>
              <a:rPr sz="1050" b="0">
                <a:solidFill>
                  <a:srgbClr val="2563EB"/>
                </a:solidFill>
              </a:rPr>
              <a:t>POC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4DA814-E23C-438E-9B0B-45103EC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0F3CB0-9626-4319-914B-40D9E5A9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Setup 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F41946-D609-42FC-8F52-887ED970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1FC2F5-3BD5-4C59-BBD0-5D93775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94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Hours (manual)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184B03-BEFA-4A9B-A3B8-16125F6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4C86BB-9B62-4F3D-A8E2-24F5CE4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Days-Weeks (procurement)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975EFE-254E-4D33-9314-44028C23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63D8F2-017C-46B0-A143-ABE67D82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19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563EB"/>
                </a:solidFill>
              </a:defRPr>
            </a:pPr>
            <a:r>
              <a:rPr sz="1050" b="0">
                <a:solidFill>
                  <a:srgbClr val="2563EB"/>
                </a:solidFill>
              </a:rPr>
              <a:t>POC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5D3759-3C61-4A76-BB11-54AD33CC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13C2F6-0721-4D5C-8368-6BF08A15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Scalability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0B42E7-4C30-4551-BBBE-EA0438A4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94E33F-4A76-407B-8FA8-F3B0014E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Single user / laptop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3EA503-6406-4C58-952B-DBB5BD09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FD4201-DF6F-4EAB-A994-03A1B543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194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Thousands of concurrent users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50E5F4-2FD5-47C6-BAEC-4FC20DB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438F63-3A40-4192-8F44-D4BCCABB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194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C3AED"/>
                </a:solidFill>
              </a:defRPr>
            </a:pPr>
            <a:r>
              <a:rPr sz="1050" b="0">
                <a:solidFill>
                  <a:srgbClr val="7C3AED"/>
                </a:solidFill>
              </a:rPr>
              <a:t>Microsoft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2C3B1A-26FF-43BF-A4C5-04BC271C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69B928-7D5D-43A8-996A-E5F9DED7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Compliance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12B2E9-57E3-4F7E-9D42-63C6F65E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7052BD-1069-470E-892C-65A63E9F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195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None built-in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5B5614-D696-4410-ABAD-48308371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0B553E-B0B7-4301-9995-AFF913B8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Full audit trail, Purview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426C43-9BD3-4E38-811D-B434EAD6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AC04A4-B017-4A1E-A032-C8B4A30B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195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C3AED"/>
                </a:solidFill>
              </a:defRPr>
            </a:pPr>
            <a:r>
              <a:rPr sz="1050" b="0">
                <a:solidFill>
                  <a:srgbClr val="7C3AED"/>
                </a:solidFill>
              </a:rPr>
              <a:t>Microsoft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F1E4F1-E54E-4B7F-B369-3D0894F9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6B9955-1CF8-4ED4-94AA-2EE68CE3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Iteration Speed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B5D1D8-7104-434D-96D2-B7BB8AD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940202-2C5F-4125-993E-61D3ED96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195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Minutes — edit prompt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DACFAC-5FC1-44AC-9512-C4BCD517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5906B0-A653-4E44-B2C0-12D12CE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Hours — redeploy service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8F3C1F-BBC0-44E0-9D82-27ED74A6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F2D369-55AC-44A5-B0C3-7AE38C5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563EB"/>
                </a:solidFill>
              </a:defRPr>
            </a:pPr>
            <a:r>
              <a:rPr sz="1050" b="0">
                <a:solidFill>
                  <a:srgbClr val="2563EB"/>
                </a:solidFill>
              </a:rPr>
              <a:t>POC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44EAC9-E921-4962-8CC8-B50E399A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3E9840-8888-4F7D-8E2A-FE60E9F9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Integration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7E8D9B8-4465-4A05-8BC4-01207C3C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17C194-46F1-4325-B087-0E9FAF07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19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None (standalone)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8BEF7D-BE24-442A-A1E3-369A3946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CAD74D5-7C6C-4FDE-AFAD-E1070E4E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Teams, Power BI, Fabric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C8FDE0-8E23-47DC-8DC2-ECFDA6AE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C472D0-9B53-4B26-96F3-D3652E1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196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C3AED"/>
                </a:solidFill>
              </a:defRPr>
            </a:pPr>
            <a:r>
              <a:rPr sz="1050" b="0">
                <a:solidFill>
                  <a:srgbClr val="7C3AED"/>
                </a:solidFill>
              </a:rPr>
              <a:t>Microsoft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52C2C2-1D0A-4083-9E3A-D81DCCB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188BC9-FEEE-4AE2-80A4-F32B917D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Risk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E637C70-B365-45A9-8473-A174402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43B968-0EDA-429C-BEDA-503BE7B6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196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Low — isolated POC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4AA726-7334-4270-8144-BD921CBC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7FF90F6-BE29-4F66-9E75-CFF015B1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96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Medium — cloud dependency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B0C6C19-A9CC-4091-ADFC-8C3C9AC8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43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6C8806-DA55-45D7-8496-E60FF390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96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563EB"/>
                </a:solidFill>
              </a:defRPr>
            </a:pPr>
            <a:r>
              <a:rPr sz="1050" b="0">
                <a:solidFill>
                  <a:srgbClr val="2563EB"/>
                </a:solidFill>
              </a:rPr>
              <a:t>POC</a:t>
            </a:r>
          </a:p>
        </p:txBody>
      </p:sp>
    </p:spTree>
    <p:extLst>
      <p:ext uri="{BB962C8B-B14F-4D97-AF65-F5344CB8AC3E}">
        <p14:creationId xmlns:p14="http://schemas.microsoft.com/office/powerpoint/2010/main" val="8297996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81687A-5EDC-4DB4-8E74-6B950F10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C47C6-009E-4C18-94B0-F50AFE53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Recommendation &amp;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C83EE-3FC1-48C0-9D1E-FD4DD0B0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619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B9928-87EB-4395-BCFD-B6787304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Phase 1 — Near Term (Now)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0E72C-251C-42B9-8607-C6457A55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1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97E87-305A-4C06-9008-69E6609E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Expand POC knowledge base with more SQL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CB08-F99C-4B9A-A5E5-6D48A56B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4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9A398-75A8-4067-8F0C-D57B265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668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Add real (anonymized) data sources beyond dummy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5D368-C2D1-460A-9386-4ADC042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314B4-9B90-4ABA-818D-2BE5DB6F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Train 2-3 team members on prompt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EEBA9-C238-43C7-ADA4-72297D47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37117-56A0-410E-B470-446F6745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Document common question patterns and failure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73E73-EAC7-4EB0-969A-1C8ADCEF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619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C3655-074E-4EFC-89EB-6278C2AF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Phase 2 — Mid Term (Q3-Q4)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E21B3-6864-490A-86D5-130F7F75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C6491-CA9B-41B2-ABE7-FF19C14F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Pilot Azure OpenAI (GPT-4o) alongside Ollama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0A845-3A91-401C-B768-3A20EE6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2FD1D-CC84-49C2-AAB6-57A147F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Compare accuracy, latency, and cost side-by-side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0DE66-961A-40C4-B1FD-BB06926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84800-014D-48B3-AD1C-C5D4F96E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Build Azure SQL prototype with actual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0AFFE-C558-4ADC-9004-8A8BAF39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A02B0-940B-4E03-A176-D26C434B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Present comparison results to leadership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8B9901-AB14-4269-8F54-D6485EED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3619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50753-673A-41E1-8E2C-4B76BC93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Phase 3 — Long Term (2027+)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90B1D-2588-49E5-A786-9FABA98B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5E537-C622-4949-81B4-B6846AFA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Full migration to Microsoft enterprise 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D1C01-FFC4-4C49-83A6-3272170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546B5-F634-443A-A9F6-2107365C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Integrate with Teams and Power BI dashboards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B5716-8CEF-4A44-9697-8D822461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0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ADF0C4-DDEB-4BC5-A81E-9478F21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Roll out to full analytics team (10 people)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892555-D530-4D9E-819B-F33A4BDE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62EFA-70CE-4018-820A-84598767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530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Establish AI-agent-led analytics as standard operating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C53A81-4CFC-4EF1-9E03-9A6B8FE8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49B139-BF27-43F1-979D-62D89967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722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5F"/>
                </a:solidFill>
              </a:defRPr>
            </a:pPr>
            <a:r>
              <a:rPr sz="1125" b="1">
                <a:solidFill>
                  <a:srgbClr val="1E3A5F"/>
                </a:solidFill>
              </a:rPr>
              <a:t>Goal: Transform a 10-person analytics team from traditional BI to AI-agent-led workflows within 18 months</a:t>
            </a:r>
          </a:p>
        </p:txBody>
      </p:sp>
    </p:spTree>
    <p:extLst>
      <p:ext uri="{BB962C8B-B14F-4D97-AF65-F5344CB8AC3E}">
        <p14:creationId xmlns:p14="http://schemas.microsoft.com/office/powerpoint/2010/main" val="729391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2026-06-27T12:58:23.8960000Z</dcterms:created>
  <dcterms:modified xsi:type="dcterms:W3CDTF">2026-06-27T12:58:23.8960000Z</dcterms:modified>
</coreProperties>
</file>